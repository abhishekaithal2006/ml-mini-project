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22db4537801e4922" /><Relationship Type="http://schemas.openxmlformats.org/officeDocument/2006/relationships/extended-properties" Target="/docProps/app.xml" Id="R285ccb0f081043dd" /><Relationship Type="http://schemas.openxmlformats.org/officeDocument/2006/relationships/officeDocument" Target="/ppt/presentation.xml" Id="R010c8a54749e4937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b711eb72ea3a4fbc"/>
  </p:sldMasterIdLst>
  <p:notesMasterIdLst>
    <p:notesMasterId xmlns:r="http://schemas.openxmlformats.org/officeDocument/2006/relationships" r:id="R47b13d2807054a0a"/>
  </p:notesMasterIdLst>
  <p:sldIdLst>
    <p:sldId xmlns:r="http://schemas.openxmlformats.org/officeDocument/2006/relationships" id="256" r:id="R177282d8b51e4020"/>
    <p:sldId xmlns:r="http://schemas.openxmlformats.org/officeDocument/2006/relationships" id="257" r:id="R36a29028686040f2"/>
    <p:sldId xmlns:r="http://schemas.openxmlformats.org/officeDocument/2006/relationships" id="258" r:id="R42c91c03e8004ebc"/>
    <p:sldId xmlns:r="http://schemas.openxmlformats.org/officeDocument/2006/relationships" id="259" r:id="R27239b080ee54d5e"/>
    <p:sldId xmlns:r="http://schemas.openxmlformats.org/officeDocument/2006/relationships" id="260" r:id="R4c72986e8998407b"/>
    <p:sldId xmlns:r="http://schemas.openxmlformats.org/officeDocument/2006/relationships" id="261" r:id="R469a253598a44c1d"/>
    <p:sldId xmlns:r="http://schemas.openxmlformats.org/officeDocument/2006/relationships" id="262" r:id="Rb91fb77d84f549ff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b47653431ad1457d" /><Relationship Type="http://schemas.openxmlformats.org/officeDocument/2006/relationships/slideMaster" Target="/ppt/slideMasters/slideMaster1.xml" Id="Rb711eb72ea3a4fbc" /><Relationship Type="http://schemas.openxmlformats.org/officeDocument/2006/relationships/notesMaster" Target="/ppt/notesMasters/notesMaster1.xml" Id="R47b13d2807054a0a" /><Relationship Type="http://schemas.openxmlformats.org/officeDocument/2006/relationships/presProps" Target="/ppt/presProps.xml" Id="R5ff79ce32709432f" /><Relationship Type="http://schemas.openxmlformats.org/officeDocument/2006/relationships/tableStyles" Target="/ppt/tableStyles.xml" Id="R293ab6a00fd9471c" /><Relationship Type="http://schemas.openxmlformats.org/officeDocument/2006/relationships/slide" Target="/ppt/slides/slide1.xml" Id="R177282d8b51e4020" /><Relationship Type="http://schemas.openxmlformats.org/officeDocument/2006/relationships/slide" Target="/ppt/slides/slide2.xml" Id="R36a29028686040f2" /><Relationship Type="http://schemas.openxmlformats.org/officeDocument/2006/relationships/slide" Target="/ppt/slides/slide3.xml" Id="R42c91c03e8004ebc" /><Relationship Type="http://schemas.openxmlformats.org/officeDocument/2006/relationships/slide" Target="/ppt/slides/slide4.xml" Id="R27239b080ee54d5e" /><Relationship Type="http://schemas.openxmlformats.org/officeDocument/2006/relationships/slide" Target="/ppt/slides/slide5.xml" Id="R4c72986e8998407b" /><Relationship Type="http://schemas.openxmlformats.org/officeDocument/2006/relationships/slide" Target="/ppt/slides/slide6.xml" Id="R469a253598a44c1d" /><Relationship Type="http://schemas.openxmlformats.org/officeDocument/2006/relationships/slide" Target="/ppt/slides/slide7.xml" Id="Rb91fb77d84f549ff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2b153e5408734ac5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2d58f08e354d4b46" /><Relationship Type="http://schemas.openxmlformats.org/officeDocument/2006/relationships/notesMaster" Target="/ppt/notesMasters/notesMaster1.xml" Id="R3890b23dde0a4cea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72d549c6eb4d4c1e" /><Relationship Type="http://schemas.openxmlformats.org/officeDocument/2006/relationships/notesMaster" Target="/ppt/notesMasters/notesMaster1.xml" Id="R40c0568f53f240c2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54e592725c7e43c5" /><Relationship Type="http://schemas.openxmlformats.org/officeDocument/2006/relationships/notesMaster" Target="/ppt/notesMasters/notesMaster1.xml" Id="R1190b89d3774459d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3a2c8a2d8eea49b9" /><Relationship Type="http://schemas.openxmlformats.org/officeDocument/2006/relationships/notesMaster" Target="/ppt/notesMasters/notesMaster1.xml" Id="R79bc6722e39440e8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ff57d0aecdbe4c43" /><Relationship Type="http://schemas.openxmlformats.org/officeDocument/2006/relationships/notesMaster" Target="/ppt/notesMasters/notesMaster1.xml" Id="R4fd3c4e208c74563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c90f6631016f49e9" /><Relationship Type="http://schemas.openxmlformats.org/officeDocument/2006/relationships/notesMaster" Target="/ppt/notesMasters/notesMaster1.xml" Id="Rd7476f9dc9c0494d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e6fcc68b82534008" /><Relationship Type="http://schemas.openxmlformats.org/officeDocument/2006/relationships/notesMaster" Target="/ppt/notesMasters/notesMaster1.xml" Id="Rf5768f3d601841ec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Stanford cohort used in the reference report is restricted. This presentation reports a public TCGA substitute analysis and does not claim to reproduce the paper’s numerical results.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NCI Genomic Data Commons TCGA-CDR. https://gdc.cancer.gov/about-data/publications/PanCan-Clinical-2018. The original Jamalian report describes a restricted Stanford cohort of 80 patients with 900 radiomic features. The current cohort and predictors differ.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Classification outcome known at horizon: observed death before threshold versus known alive at threshold. Patients censored before the threshold cannot be labeled and are excluded only from this binary task.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Results from outputs/classifier_results.csv and outputs/survival_results.csv. Five-fold shuffled CV, seed 229. Results are exploratory and should not be interpreted as clinical decision support.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Exploratory Kaplan–Meier plots use a full-cohort Cox fit to split by median partial hazard. The log-rank p-value is descriptive and not an independent validation result.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Data source: TCGA Pan-Cancer Clinical Data Resource, NCI GDC, https://gdc.cancer.gov/about-data/publications/PanCan-Clinical-2018. The assignment guidelines require a private GitHub repository, two-page PDF write-up, presentation and live demonstration. Add team member names and the assigned serial-number problem before submission.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40d23b77f294406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fb123bfb22e4d4e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d9aa92ccd2947de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e81913417aa48f9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66f4a3e412a40b1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d6af30756ac44f2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466B7D3B-A676-4B1A-9058-2F02946513C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DE715F83-9C90-4393-B038-987D0F1CA0EA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20237310-77E4-4015-A067-692568565CD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6E310275-5806-4DDD-85FE-F282128E493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31F068BA-F401-4F37-9835-992837F44103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DB46A8F9-AEFC-4581-980F-2D4CAA21C0A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F4C56AD3-32CA-4283-9F40-9B75C276B1B6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EECEC82C-A745-40F2-9B0F-A126CDF0F151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69CF7844-F41B-4A2B-922F-0A6D7FF7310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605C579E-F643-4A5B-9584-A47F74C53B93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a7e08d8676474e18" /><Relationship Type="http://schemas.openxmlformats.org/officeDocument/2006/relationships/slideLayout" Target="/ppt/slideLayouts/slideLayout1.xml" Id="Ra7f3f57d1e914c4d" /><Relationship Type="http://schemas.openxmlformats.org/officeDocument/2006/relationships/slideLayout" Target="/ppt/slideLayouts/slideLayout2.xml" Id="Rbb18ba390d14428b" /><Relationship Type="http://schemas.openxmlformats.org/officeDocument/2006/relationships/slideLayout" Target="/ppt/slideLayouts/slideLayout3.xml" Id="Rbb650267765e4fa0" /><Relationship Type="http://schemas.openxmlformats.org/officeDocument/2006/relationships/slideLayout" Target="/ppt/slideLayouts/slideLayout4.xml" Id="R6d6b3606454d49f6" /><Relationship Type="http://schemas.openxmlformats.org/officeDocument/2006/relationships/slideLayout" Target="/ppt/slideLayouts/slideLayout5.xml" Id="R76a5a9b93f5d4dec" /><Relationship Type="http://schemas.openxmlformats.org/officeDocument/2006/relationships/slideLayout" Target="/ppt/slideLayouts/slideLayout6.xml" Id="Rb78f406e066e4db0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a7f3f57d1e914c4d"/>
    <p:sldLayoutId xmlns:r="http://schemas.openxmlformats.org/officeDocument/2006/relationships" id="2147483650" r:id="Rbb18ba390d14428b"/>
    <p:sldLayoutId xmlns:r="http://schemas.openxmlformats.org/officeDocument/2006/relationships" id="2147483651" r:id="Rbb650267765e4fa0"/>
    <p:sldLayoutId xmlns:r="http://schemas.openxmlformats.org/officeDocument/2006/relationships" id="2147483652" r:id="R6d6b3606454d49f6"/>
    <p:sldLayoutId xmlns:r="http://schemas.openxmlformats.org/officeDocument/2006/relationships" id="2147483653" r:id="R76a5a9b93f5d4dec"/>
    <p:sldLayoutId xmlns:r="http://schemas.openxmlformats.org/officeDocument/2006/relationships" id="2147483654" r:id="Rb78f406e066e4db0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af5b79c52884534" /><Relationship Type="http://schemas.openxmlformats.org/officeDocument/2006/relationships/notesSlide" Target="/ppt/notesSlides/notesSlide1.xml" Id="R6f08b5c5b53a4272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557978df5f64fe9" /><Relationship Type="http://schemas.openxmlformats.org/officeDocument/2006/relationships/notesSlide" Target="/ppt/notesSlides/notesSlide2.xml" Id="Rcdaa2f72724d4fce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310cc359a7a48d3" /><Relationship Type="http://schemas.openxmlformats.org/officeDocument/2006/relationships/notesSlide" Target="/ppt/notesSlides/notesSlide3.xml" Id="R31906745a5b04de9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7adb070dd2e4f1e" /><Relationship Type="http://schemas.openxmlformats.org/officeDocument/2006/relationships/notesSlide" Target="/ppt/notesSlides/notesSlide4.xml" Id="R8c84c65de16c4403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86d2d556c8c43cb" /><Relationship Type="http://schemas.openxmlformats.org/officeDocument/2006/relationships/notesSlide" Target="/ppt/notesSlides/notesSlide5.xml" Id="Rde79ebb771324f3c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04e1de538134b22" /><Relationship Type="http://schemas.openxmlformats.org/officeDocument/2006/relationships/image" Target="/ppt/media/image.png" Id="R78ba4f5242574a8c" /><Relationship Type="http://schemas.openxmlformats.org/officeDocument/2006/relationships/notesSlide" Target="/ppt/notesSlides/notesSlide6.xml" Id="R49843cb18ca643ce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9fac43b5e024764" /><Relationship Type="http://schemas.openxmlformats.org/officeDocument/2006/relationships/notesSlide" Target="/ppt/notesSlides/notesSlide7.xml" Id="R4a6cba13089d40c9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5324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558873B-D451-4F09-95E5-CDA889F4B9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085850"/>
            <a:ext cx="8191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650" b="1">
                <a:solidFill>
                  <a:srgbClr val="8FD0C8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>
              <a:defRPr sz="1650" b="1">
                <a:solidFill>
                  <a:srgbClr val="8FD0C8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8FD0C8"/>
                </a:solidFill>
                <a:latin typeface="Aptos"/>
                <a:ea typeface="Aptos"/>
                <a:cs typeface="Aptos"/>
              </a:rPr>
              <a:t>PANCREATIC CANCER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28FAE40-079F-479E-82DB-4306147F81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666875"/>
            <a:ext cx="8477250" cy="1657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43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>
              <a:defRPr sz="43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43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Survival analysis</a:t>
            </a:r>
          </a:p>
          <a:p xmlns:a="http://schemas.openxmlformats.org/drawingml/2006/main">
            <a:pPr>
              <a:defRPr sz="43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43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with clinical data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64699A9-AA6B-4D7F-98AB-2FF35EE4D6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667125"/>
            <a:ext cx="9525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875" b="0">
                <a:solidFill>
                  <a:srgbClr val="D8E3E8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D8E3E8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D8E3E8"/>
                </a:solidFill>
                <a:latin typeface="Aptos"/>
                <a:ea typeface="Aptos"/>
                <a:cs typeface="Aptos"/>
              </a:rPr>
              <a:t>Reference workflow replication + five-classifier comparison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4F47251-3C3C-41B0-8BCE-BA111449FA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476750"/>
            <a:ext cx="66675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A44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322698D-DB1F-4705-B601-5A45C644C3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4533900"/>
            <a:ext cx="9429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500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Public TCGA PAAD cohort · 184 patients · 5-fold evaluation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51F8BD7-C533-4C21-A593-0FA560274D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4981575"/>
            <a:ext cx="8096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275" b="0">
                <a:solidFill>
                  <a:srgbClr val="C8D7DF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C8D7DF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C8D7DF"/>
                </a:solidFill>
                <a:latin typeface="Aptos"/>
                <a:ea typeface="Aptos"/>
                <a:cs typeface="Aptos"/>
              </a:rPr>
              <a:t>Team members: __________________________________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13FB1B4-4140-411F-8C14-9ACC0DC53E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229350"/>
            <a:ext cx="7620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125" b="0">
                <a:solidFill>
                  <a:srgbClr val="C8D7DF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C8D7DF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C8D7DF"/>
                </a:solidFill>
                <a:latin typeface="Aptos"/>
                <a:ea typeface="Aptos"/>
                <a:cs typeface="Aptos"/>
              </a:rPr>
              <a:t>UE24CS352A  ·  Machine Learning Mini-Project</a:t>
            </a:r>
          </a:p>
        </p:txBody>
      </p:sp>
    </p:spTree>
    <p:extLst>
      <p:ext uri="{BB962C8B-B14F-4D97-AF65-F5344CB8AC3E}">
        <p14:creationId xmlns:p14="http://schemas.microsoft.com/office/powerpoint/2010/main" val="21126207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8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918484A-74EF-449F-A2DB-5362819369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66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2700" b="1">
                <a:solidFill>
                  <a:srgbClr val="15324B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>
              <a:defRPr sz="2700" b="1">
                <a:solidFill>
                  <a:srgbClr val="15324B"/>
                </a:solidFill>
                <a:latin typeface="Aptos"/>
                <a:ea typeface="Aptos"/>
                <a:cs typeface="Aptos"/>
              </a:defRPr>
            </a:pPr>
            <a:r>
              <a:rPr sz="2700" b="1">
                <a:solidFill>
                  <a:srgbClr val="15324B"/>
                </a:solidFill>
                <a:latin typeface="Aptos"/>
                <a:ea typeface="Aptos"/>
                <a:cs typeface="Aptos"/>
              </a:rPr>
              <a:t>Study question and public cohort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D2204A4-394E-44C4-A3BE-74BB59816E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95375"/>
            <a:ext cx="10972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7A7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1F2BF7E-FBA5-471D-99D5-61056D2B6B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975" b="0">
                <a:solidFill>
                  <a:srgbClr val="526575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>
              <a:defRPr sz="975" b="0">
                <a:solidFill>
                  <a:srgbClr val="526575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26575"/>
                </a:solidFill>
                <a:latin typeface="Aptos"/>
                <a:ea typeface="Aptos"/>
                <a:cs typeface="Aptos"/>
              </a:rPr>
              <a:t>UE24CS352A  ·  ML MINI-PROJECT                                           02 / 07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C56879D-3712-4C15-A8CE-65682E63F8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28750"/>
            <a:ext cx="1047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2325" b="1">
                <a:solidFill>
                  <a:srgbClr val="1C2935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>
              <a:defRPr sz="2325" b="1">
                <a:solidFill>
                  <a:srgbClr val="1C2935"/>
                </a:solidFill>
                <a:latin typeface="Aptos"/>
                <a:ea typeface="Aptos"/>
                <a:cs typeface="Aptos"/>
              </a:defRPr>
            </a:pPr>
            <a:r>
              <a:rPr sz="2325" b="1">
                <a:solidFill>
                  <a:srgbClr val="1C2935"/>
                </a:solidFill>
                <a:latin typeface="Aptos"/>
                <a:ea typeface="Aptos"/>
                <a:cs typeface="Aptos"/>
              </a:rPr>
              <a:t>Can clinical variables help order survival risk?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BEEBF17-8BDE-4B8F-8C33-33A3954F37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71675"/>
            <a:ext cx="104775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650" b="0">
                <a:solidFill>
                  <a:srgbClr val="526575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526575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526575"/>
                </a:solidFill>
                <a:latin typeface="Aptos"/>
                <a:ea typeface="Aptos"/>
                <a:cs typeface="Aptos"/>
              </a:rPr>
              <a:t>The reference report uses pancreatic cancer survival, clinical/radiomic features, Naive Bayes risk groups, and Cox proportional hazards.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0229A2A-3E0B-4D18-AFB4-4DC2B5FA89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076575"/>
            <a:ext cx="238125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3900" b="1">
                <a:solidFill>
                  <a:srgbClr val="15324B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>
              <a:defRPr sz="3900" b="1">
                <a:solidFill>
                  <a:srgbClr val="15324B"/>
                </a:solidFill>
                <a:latin typeface="Aptos"/>
                <a:ea typeface="Aptos"/>
                <a:cs typeface="Aptos"/>
              </a:defRPr>
            </a:pPr>
            <a:r>
              <a:rPr sz="3900" b="1">
                <a:solidFill>
                  <a:srgbClr val="15324B"/>
                </a:solidFill>
                <a:latin typeface="Aptos"/>
                <a:ea typeface="Aptos"/>
                <a:cs typeface="Aptos"/>
              </a:rPr>
              <a:t>184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1E5E35B-A794-42D3-BD51-330E513B71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743325"/>
            <a:ext cx="276225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500" b="0">
                <a:solidFill>
                  <a:srgbClr val="526575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526575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526575"/>
                </a:solidFill>
                <a:latin typeface="Aptos"/>
                <a:ea typeface="Aptos"/>
                <a:cs typeface="Aptos"/>
              </a:rPr>
              <a:t>PAAD records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D9DBB47-33F3-4F01-9BD0-926A0478FD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3076575"/>
            <a:ext cx="238125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3900" b="1">
                <a:solidFill>
                  <a:srgbClr val="157A78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>
              <a:defRPr sz="3900" b="1">
                <a:solidFill>
                  <a:srgbClr val="157A78"/>
                </a:solidFill>
                <a:latin typeface="Aptos"/>
                <a:ea typeface="Aptos"/>
                <a:cs typeface="Aptos"/>
              </a:defRPr>
            </a:pPr>
            <a:r>
              <a:rPr sz="3900" b="1">
                <a:solidFill>
                  <a:srgbClr val="157A78"/>
                </a:solidFill>
                <a:latin typeface="Aptos"/>
                <a:ea typeface="Aptos"/>
                <a:cs typeface="Aptos"/>
              </a:rPr>
              <a:t>100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E67166C-8435-4F32-A13C-46F29EB43E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3743325"/>
            <a:ext cx="276225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500" b="0">
                <a:solidFill>
                  <a:srgbClr val="526575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526575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526575"/>
                </a:solidFill>
                <a:latin typeface="Aptos"/>
                <a:ea typeface="Aptos"/>
                <a:cs typeface="Aptos"/>
              </a:rPr>
              <a:t>observed deaths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1D4D417-3228-4ACE-B6E2-FBFB60E37B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076575"/>
            <a:ext cx="238125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3900" b="1">
                <a:solidFill>
                  <a:srgbClr val="15324B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>
              <a:defRPr sz="3900" b="1">
                <a:solidFill>
                  <a:srgbClr val="15324B"/>
                </a:solidFill>
                <a:latin typeface="Aptos"/>
                <a:ea typeface="Aptos"/>
                <a:cs typeface="Aptos"/>
              </a:defRPr>
            </a:pPr>
            <a:r>
              <a:rPr sz="3900" b="1">
                <a:solidFill>
                  <a:srgbClr val="15324B"/>
                </a:solidFill>
                <a:latin typeface="Aptos"/>
                <a:ea typeface="Aptos"/>
                <a:cs typeface="Aptos"/>
              </a:rPr>
              <a:t>84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B3EC3D4-E5F7-4F5B-89DB-1F1E7BB433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743325"/>
            <a:ext cx="276225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500" b="0">
                <a:solidFill>
                  <a:srgbClr val="526575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526575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526575"/>
                </a:solidFill>
                <a:latin typeface="Aptos"/>
                <a:ea typeface="Aptos"/>
                <a:cs typeface="Aptos"/>
              </a:rPr>
              <a:t>right-censored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B398AC1-545A-464D-A59B-6EF4F22E74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667250"/>
            <a:ext cx="19050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650" b="1">
                <a:solidFill>
                  <a:srgbClr val="157A78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>
              <a:defRPr sz="1650" b="1">
                <a:solidFill>
                  <a:srgbClr val="157A78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57A78"/>
                </a:solidFill>
                <a:latin typeface="Aptos"/>
                <a:ea typeface="Aptos"/>
                <a:cs typeface="Aptos"/>
              </a:rPr>
              <a:t>Predictors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FA9F146-D384-411C-A302-7C0B1892BA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10150"/>
            <a:ext cx="9810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575" b="0">
                <a:solidFill>
                  <a:srgbClr val="1C2935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>
              <a:defRPr sz="1575" b="0">
                <a:solidFill>
                  <a:srgbClr val="1C2935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1C2935"/>
                </a:solidFill>
                <a:latin typeface="Aptos"/>
                <a:ea typeface="Aptos"/>
                <a:cs typeface="Aptos"/>
              </a:rPr>
              <a:t>Classification: age · gender · stage · histology · race</a:t>
            </a:r>
          </a:p>
          <a:p xmlns:a="http://schemas.openxmlformats.org/drawingml/2006/main">
            <a:pPr>
              <a:defRPr sz="1575" b="0">
                <a:solidFill>
                  <a:srgbClr val="1C2935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1C2935"/>
                </a:solidFill>
                <a:latin typeface="Aptos"/>
                <a:ea typeface="Aptos"/>
                <a:cs typeface="Aptos"/>
              </a:rPr>
              <a:t>Cox survival model: age · gender · stage</a:t>
            </a:r>
          </a:p>
          <a:p xmlns:a="http://schemas.openxmlformats.org/drawingml/2006/main">
            <a:pPr>
              <a:defRPr sz="1575" b="0">
                <a:solidFill>
                  <a:srgbClr val="1C2935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1C2935"/>
                </a:solidFill>
                <a:latin typeface="Aptos"/>
                <a:ea typeface="Aptos"/>
                <a:cs typeface="Aptos"/>
              </a:rPr>
              <a:t>No radiomic features in TCGA-CDR extract</a:t>
            </a:r>
          </a:p>
        </p:txBody>
      </p:sp>
    </p:spTree>
    <p:extLst>
      <p:ext uri="{BB962C8B-B14F-4D97-AF65-F5344CB8AC3E}">
        <p14:creationId xmlns:p14="http://schemas.microsoft.com/office/powerpoint/2010/main" val="178412491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8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2300DD3-3314-451D-A9F3-2A8DF39B09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66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2700" b="1">
                <a:solidFill>
                  <a:srgbClr val="15324B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>
              <a:defRPr sz="2700" b="1">
                <a:solidFill>
                  <a:srgbClr val="15324B"/>
                </a:solidFill>
                <a:latin typeface="Aptos"/>
                <a:ea typeface="Aptos"/>
                <a:cs typeface="Aptos"/>
              </a:defRPr>
            </a:pPr>
            <a:r>
              <a:rPr sz="2700" b="1">
                <a:solidFill>
                  <a:srgbClr val="15324B"/>
                </a:solidFill>
                <a:latin typeface="Aptos"/>
                <a:ea typeface="Aptos"/>
                <a:cs typeface="Aptos"/>
              </a:rPr>
              <a:t>Analysis workflow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42416D1-7C5D-4943-9CDF-12367E95C6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95375"/>
            <a:ext cx="10972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7A7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C04BCEF-A55E-42CD-8CBD-B52EF67A57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975" b="0">
                <a:solidFill>
                  <a:srgbClr val="526575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>
              <a:defRPr sz="975" b="0">
                <a:solidFill>
                  <a:srgbClr val="526575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26575"/>
                </a:solidFill>
                <a:latin typeface="Aptos"/>
                <a:ea typeface="Aptos"/>
                <a:cs typeface="Aptos"/>
              </a:rPr>
              <a:t>UE24CS352A  ·  ML MINI-PROJECT                                           03 / 07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9DAB9FF-F441-4A1F-89E9-CE35ADD900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428750"/>
            <a:ext cx="762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2550" b="1">
                <a:solidFill>
                  <a:srgbClr val="157A78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>
              <a:defRPr sz="2550" b="1">
                <a:solidFill>
                  <a:srgbClr val="157A78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157A78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614A84D-7E15-41C1-A51A-9B29010B91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1428750"/>
            <a:ext cx="4095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875" b="1">
                <a:solidFill>
                  <a:srgbClr val="15324B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>
              <a:defRPr sz="1875" b="1">
                <a:solidFill>
                  <a:srgbClr val="15324B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15324B"/>
                </a:solidFill>
                <a:latin typeface="Aptos"/>
                <a:ea typeface="Aptos"/>
                <a:cs typeface="Aptos"/>
              </a:rPr>
              <a:t>Prepare survival outcome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D5D9D0B-9BF4-4A04-BC53-2DD9C8CF7B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1828800"/>
            <a:ext cx="8572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425" b="0">
                <a:solidFill>
                  <a:srgbClr val="526575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>
              <a:defRPr sz="1425" b="0">
                <a:solidFill>
                  <a:srgbClr val="526575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526575"/>
                </a:solidFill>
                <a:latin typeface="Aptos"/>
                <a:ea typeface="Aptos"/>
                <a:cs typeface="Aptos"/>
              </a:rPr>
              <a:t>Duration in days; event=death, censored=0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990EE05-FB62-4A8F-AB77-977E0D04C8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076450"/>
            <a:ext cx="19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D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2B3EE69-A1DB-46B8-93DF-32994BF8D0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533650"/>
            <a:ext cx="762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2550" b="1">
                <a:solidFill>
                  <a:srgbClr val="157A78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>
              <a:defRPr sz="2550" b="1">
                <a:solidFill>
                  <a:srgbClr val="157A78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157A78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E022DEE-B7CA-4BE5-98D0-22423B16B2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2533650"/>
            <a:ext cx="4095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875" b="1">
                <a:solidFill>
                  <a:srgbClr val="15324B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>
              <a:defRPr sz="1875" b="1">
                <a:solidFill>
                  <a:srgbClr val="15324B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15324B"/>
                </a:solidFill>
                <a:latin typeface="Aptos"/>
                <a:ea typeface="Aptos"/>
                <a:cs typeface="Aptos"/>
              </a:rPr>
              <a:t>Fit survival model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27C1A59-0849-475C-9639-B327F1F744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2933700"/>
            <a:ext cx="8572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425" b="0">
                <a:solidFill>
                  <a:srgbClr val="526575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>
              <a:defRPr sz="1425" b="0">
                <a:solidFill>
                  <a:srgbClr val="526575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526575"/>
                </a:solidFill>
                <a:latin typeface="Aptos"/>
                <a:ea typeface="Aptos"/>
                <a:cs typeface="Aptos"/>
              </a:rPr>
              <a:t>Penalized Cox model; 5-fold C-index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C265427-758F-433B-8BBC-D55E94DBD2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181350"/>
            <a:ext cx="19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D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783F108-67FE-4550-9FEE-D293339626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638550"/>
            <a:ext cx="762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2550" b="1">
                <a:solidFill>
                  <a:srgbClr val="157A78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>
              <a:defRPr sz="2550" b="1">
                <a:solidFill>
                  <a:srgbClr val="157A78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157A78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E75F2D0-C49F-4F63-8CD1-2A6B153502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3638550"/>
            <a:ext cx="4095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875" b="1">
                <a:solidFill>
                  <a:srgbClr val="15324B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>
              <a:defRPr sz="1875" b="1">
                <a:solidFill>
                  <a:srgbClr val="15324B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15324B"/>
                </a:solidFill>
                <a:latin typeface="Aptos"/>
                <a:ea typeface="Aptos"/>
                <a:cs typeface="Aptos"/>
              </a:rPr>
              <a:t>Build early-risk label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2FBB5E4-523D-43D1-A7C9-BBBBC25E55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4038600"/>
            <a:ext cx="8572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425" b="0">
                <a:solidFill>
                  <a:srgbClr val="526575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>
              <a:defRPr sz="1425" b="0">
                <a:solidFill>
                  <a:srgbClr val="526575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526575"/>
                </a:solidFill>
                <a:latin typeface="Aptos"/>
                <a:ea typeface="Aptos"/>
                <a:cs typeface="Aptos"/>
              </a:rPr>
              <a:t>Death by 270 days; exclude early-censored unknowns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3D252F2-F92F-40F9-9740-56BD1E403B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86250"/>
            <a:ext cx="19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D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4EA28E5-9BA6-4FEF-A10B-20B5D9E7E5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743450"/>
            <a:ext cx="762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2550" b="1">
                <a:solidFill>
                  <a:srgbClr val="157A78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>
              <a:defRPr sz="2550" b="1">
                <a:solidFill>
                  <a:srgbClr val="157A78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157A78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7DB1EE8-4900-4C8B-9111-6A130190A4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4743450"/>
            <a:ext cx="4095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875" b="1">
                <a:solidFill>
                  <a:srgbClr val="15324B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>
              <a:defRPr sz="1875" b="1">
                <a:solidFill>
                  <a:srgbClr val="15324B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15324B"/>
                </a:solidFill>
                <a:latin typeface="Aptos"/>
                <a:ea typeface="Aptos"/>
                <a:cs typeface="Aptos"/>
              </a:rPr>
              <a:t>Compare classifiers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DA98221-3649-40B8-B802-B73A55C77A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5143500"/>
            <a:ext cx="8572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425" b="0">
                <a:solidFill>
                  <a:srgbClr val="526575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>
              <a:defRPr sz="1425" b="0">
                <a:solidFill>
                  <a:srgbClr val="526575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526575"/>
                </a:solidFill>
                <a:latin typeface="Aptos"/>
                <a:ea typeface="Aptos"/>
                <a:cs typeface="Aptos"/>
              </a:rPr>
              <a:t>NB · Logistic Regression · RBF SVM · Random Forest · Gradient Boosting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B73A6DC-F408-42AD-A873-DA2958D1CC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934075"/>
            <a:ext cx="1028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200" b="0">
                <a:solidFill>
                  <a:srgbClr val="AA5E57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AA5E57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AA5E57"/>
                </a:solidFill>
                <a:latin typeface="Aptos"/>
                <a:ea typeface="Aptos"/>
                <a:cs typeface="Aptos"/>
              </a:rPr>
              <a:t>Preprocessing and resampling stay inside the training folds. SMOTE is omitted because interpolating censored survival times can create invalid records.</a:t>
            </a:r>
          </a:p>
        </p:txBody>
      </p:sp>
    </p:spTree>
    <p:extLst>
      <p:ext uri="{BB962C8B-B14F-4D97-AF65-F5344CB8AC3E}">
        <p14:creationId xmlns:p14="http://schemas.microsoft.com/office/powerpoint/2010/main" val="670143897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F8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129ECD7-4A2F-4EFC-BBBE-3D51D507D8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66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2700" b="1">
                <a:solidFill>
                  <a:srgbClr val="15324B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>
              <a:defRPr sz="2700" b="1">
                <a:solidFill>
                  <a:srgbClr val="15324B"/>
                </a:solidFill>
                <a:latin typeface="Aptos"/>
                <a:ea typeface="Aptos"/>
                <a:cs typeface="Aptos"/>
              </a:defRPr>
            </a:pPr>
            <a:r>
              <a:rPr sz="2700" b="1">
                <a:solidFill>
                  <a:srgbClr val="15324B"/>
                </a:solidFill>
                <a:latin typeface="Aptos"/>
                <a:ea typeface="Aptos"/>
                <a:cs typeface="Aptos"/>
              </a:rPr>
              <a:t>Classifier results at 270 days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07C1C30-4490-498E-95B1-CF093E73C2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95375"/>
            <a:ext cx="10972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7A7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13D319F-24D2-4380-8DF5-EDA15DD6AC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975" b="0">
                <a:solidFill>
                  <a:srgbClr val="526575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>
              <a:defRPr sz="975" b="0">
                <a:solidFill>
                  <a:srgbClr val="526575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26575"/>
                </a:solidFill>
                <a:latin typeface="Aptos"/>
                <a:ea typeface="Aptos"/>
                <a:cs typeface="Aptos"/>
              </a:rPr>
              <a:t>UE24CS352A  ·  ML MINI-PROJECT                                           04 / 07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7369DEE-D979-48E5-9C69-282407A634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14450"/>
            <a:ext cx="106680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800" b="1">
                <a:solidFill>
                  <a:srgbClr val="1C2935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>
              <a:defRPr sz="1800" b="1">
                <a:solidFill>
                  <a:srgbClr val="1C2935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C2935"/>
                </a:solidFill>
                <a:latin typeface="Aptos"/>
                <a:ea typeface="Aptos"/>
                <a:cs typeface="Aptos"/>
              </a:rPr>
              <a:t>Logistic Regression led balanced accuracy; recall remains higher than precision.</a:t>
            </a:r>
          </a:p>
        </p:txBody>
      </p:sp>
      <p:graphicFrame>
        <p:nvGraphicFrame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D7E7643-7F5B-430B-921E-1FA86ED3A430}"/>
              </a:ext>
            </a:extLst>
          </p:cNvPr>
          <p:cNvGraphicFramePr/>
          <p:nvPr/>
        </p:nvGraphicFramePr>
        <p:xfrm>
          <a:off xmlns:a="http://schemas.openxmlformats.org/drawingml/2006/main" x="685800" y="2095500"/>
          <a:ext xmlns:a="http://schemas.openxmlformats.org/drawingml/2006/main" cx="10782300" cy="2952750"/>
        </p:xfrm>
        <a:graphic xmlns:a="http://schemas.openxmlformats.org/drawingml/2006/main">
          <a:graphicData uri="http://schemas.openxmlformats.org/drawingml/2006/table">
            <a:tbl>
              <a:tblPr firstRow="1" bandRow="1"/>
              <a:tblGrid>
                <a:gridCol w="1797050"/>
                <a:gridCol w="1797050"/>
                <a:gridCol w="1797050"/>
                <a:gridCol w="1797050"/>
                <a:gridCol w="1797050"/>
                <a:gridCol w="1797050"/>
              </a:tblGrid>
              <a:tr h="492125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FFFFFF"/>
                          </a:solidFill>
                        </a:rPr>
                        <a:t>Classifier</a:t>
                      </a:r>
                    </a:p>
                  </a:txBody>
                  <a:tcPr marL="91440" marR="91440" marT="45720" marB="45720">
                    <a:solidFill>
                      <a:srgbClr val="15324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FFFFFF"/>
                          </a:solidFill>
                        </a:rPr>
                        <a:t>Balanced acc.</a:t>
                      </a:r>
                    </a:p>
                  </a:txBody>
                  <a:tcPr marL="91440" marR="91440" marT="45720" marB="45720">
                    <a:solidFill>
                      <a:srgbClr val="15324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FFFFFF"/>
                          </a:solidFill>
                        </a:rPr>
                        <a:t>Precision</a:t>
                      </a:r>
                    </a:p>
                  </a:txBody>
                  <a:tcPr marL="91440" marR="91440" marT="45720" marB="45720">
                    <a:solidFill>
                      <a:srgbClr val="15324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FFFFFF"/>
                          </a:solidFill>
                        </a:rPr>
                        <a:t>Recall</a:t>
                      </a:r>
                    </a:p>
                  </a:txBody>
                  <a:tcPr marL="91440" marR="91440" marT="45720" marB="45720">
                    <a:solidFill>
                      <a:srgbClr val="15324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FFFFFF"/>
                          </a:solidFill>
                        </a:rPr>
                        <a:t>F1</a:t>
                      </a:r>
                    </a:p>
                  </a:txBody>
                  <a:tcPr marL="91440" marR="91440" marT="45720" marB="45720">
                    <a:solidFill>
                      <a:srgbClr val="15324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FFFFFF"/>
                          </a:solidFill>
                        </a:rPr>
                        <a:t>ROC-AUC</a:t>
                      </a:r>
                    </a:p>
                  </a:txBody>
                  <a:tcPr marL="91440" marR="91440" marT="45720" marB="45720">
                    <a:solidFill>
                      <a:srgbClr val="15324B"/>
                    </a:solidFill>
                  </a:tcPr>
                </a:tc>
              </a:tr>
              <a:tr h="492125">
                <a:tc>
                  <a:txBody>
                    <a:bodyPr/>
                    <a:lstStyle/>
                    <a:p>
                      <a:r>
                        <a:rPr sz="1200"/>
                        <a:t>Logistic Regression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/>
                        <a:t>0.642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/>
                        <a:t>0.282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/>
                        <a:t>0.688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/>
                        <a:t>0.400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/>
                        <a:t>0.620</a:t>
                      </a:r>
                    </a:p>
                  </a:txBody>
                  <a:tcPr marL="91440" marR="91440" marT="45720" marB="45720"/>
                </a:tc>
              </a:tr>
              <a:tr h="492125">
                <a:tc>
                  <a:txBody>
                    <a:bodyPr/>
                    <a:lstStyle/>
                    <a:p>
                      <a:r>
                        <a:rPr sz="1200"/>
                        <a:t>SVM (RBF)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/>
                        <a:t>0.640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/>
                        <a:t>0.274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/>
                        <a:t>0.719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/>
                        <a:t>0.397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/>
                        <a:t>0.417</a:t>
                      </a:r>
                    </a:p>
                  </a:txBody>
                  <a:tcPr marL="91440" marR="91440" marT="45720" marB="45720"/>
                </a:tc>
              </a:tr>
              <a:tr h="492125">
                <a:tc>
                  <a:txBody>
                    <a:bodyPr/>
                    <a:lstStyle/>
                    <a:p>
                      <a:r>
                        <a:rPr sz="1200"/>
                        <a:t>Random Forest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/>
                        <a:t>0.608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/>
                        <a:t>0.300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/>
                        <a:t>0.469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/>
                        <a:t>0.366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/>
                        <a:t>0.574</a:t>
                      </a:r>
                    </a:p>
                  </a:txBody>
                  <a:tcPr marL="91440" marR="91440" marT="45720" marB="45720"/>
                </a:tc>
              </a:tr>
              <a:tr h="492125">
                <a:tc>
                  <a:txBody>
                    <a:bodyPr/>
                    <a:lstStyle/>
                    <a:p>
                      <a:r>
                        <a:rPr sz="1200"/>
                        <a:t>Naive Bayes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/>
                        <a:t>0.574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/>
                        <a:t>0.235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/>
                        <a:t>0.594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/>
                        <a:t>0.336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/>
                        <a:t>0.602</a:t>
                      </a:r>
                    </a:p>
                  </a:txBody>
                  <a:tcPr marL="91440" marR="91440" marT="45720" marB="45720"/>
                </a:tc>
              </a:tr>
              <a:tr h="492125">
                <a:tc>
                  <a:txBody>
                    <a:bodyPr/>
                    <a:lstStyle/>
                    <a:p>
                      <a:r>
                        <a:rPr sz="1200"/>
                        <a:t>Gradient Boosting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/>
                        <a:t>0.518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/>
                        <a:t>0.273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/>
                        <a:t>0.094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/>
                        <a:t>0.140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/>
                        <a:t>0.583</a:t>
                      </a:r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23A6A0A-95D0-4F65-BFE9-BCE57416AD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391150"/>
            <a:ext cx="10572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275" b="0">
                <a:solidFill>
                  <a:srgbClr val="526575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526575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526575"/>
                </a:solidFill>
                <a:latin typeface="Aptos"/>
                <a:ea typeface="Aptos"/>
                <a:cs typeface="Aptos"/>
              </a:rPr>
              <a:t>Known labels: 171  ·  early-censored excluded: 13  ·  high-risk events: 32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0ACEB8A-C111-452F-B8AC-4D89F5F49D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819775"/>
            <a:ext cx="10572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425" b="1">
                <a:solidFill>
                  <a:srgbClr val="157A78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>
              <a:defRPr sz="1425" b="1">
                <a:solidFill>
                  <a:srgbClr val="157A78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57A78"/>
                </a:solidFill>
                <a:latin typeface="Aptos"/>
                <a:ea typeface="Aptos"/>
                <a:cs typeface="Aptos"/>
              </a:rPr>
              <a:t>Cox clinical C-index: 0.522 ± 0.035 (5 folds)</a:t>
            </a:r>
          </a:p>
        </p:txBody>
      </p:sp>
    </p:spTree>
    <p:extLst>
      <p:ext uri="{BB962C8B-B14F-4D97-AF65-F5344CB8AC3E}">
        <p14:creationId xmlns:p14="http://schemas.microsoft.com/office/powerpoint/2010/main" val="1192368916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7F8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5D5BC52-104F-4C27-A8D7-617D8C4BD0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66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2700" b="1">
                <a:solidFill>
                  <a:srgbClr val="15324B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>
              <a:defRPr sz="2700" b="1">
                <a:solidFill>
                  <a:srgbClr val="15324B"/>
                </a:solidFill>
                <a:latin typeface="Aptos"/>
                <a:ea typeface="Aptos"/>
                <a:cs typeface="Aptos"/>
              </a:defRPr>
            </a:pPr>
            <a:r>
              <a:rPr sz="2700" b="1">
                <a:solidFill>
                  <a:srgbClr val="15324B"/>
                </a:solidFill>
                <a:latin typeface="Aptos"/>
                <a:ea typeface="Aptos"/>
                <a:cs typeface="Aptos"/>
              </a:rPr>
              <a:t>Threshold sensitivity and interpretation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96F3E85-76A3-42D1-A10F-C9E19D68D2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95375"/>
            <a:ext cx="10972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7A7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92BC9E2-2733-4B81-9E6F-D138C192EB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975" b="0">
                <a:solidFill>
                  <a:srgbClr val="526575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>
              <a:defRPr sz="975" b="0">
                <a:solidFill>
                  <a:srgbClr val="526575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26575"/>
                </a:solidFill>
                <a:latin typeface="Aptos"/>
                <a:ea typeface="Aptos"/>
                <a:cs typeface="Aptos"/>
              </a:rPr>
              <a:t>UE24CS352A  ·  ML MINI-PROJECT                                           05 / 07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7EBA04B-A620-4A8D-A173-EB0B2B892F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62075"/>
            <a:ext cx="106680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725" b="1">
                <a:solidFill>
                  <a:srgbClr val="1C2935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>
              <a:defRPr sz="1725" b="1">
                <a:solidFill>
                  <a:srgbClr val="1C2935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1C2935"/>
                </a:solidFill>
                <a:latin typeface="Aptos"/>
                <a:ea typeface="Aptos"/>
                <a:cs typeface="Aptos"/>
              </a:rPr>
              <a:t>Naive Bayes balanced accuracy across the paper’s tested horizons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C6FD5FA-B900-4556-8DE3-412CF01907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3028509"/>
            <a:ext cx="1123950" cy="20006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C78A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4C913D1-5203-49BA-B592-DA50E34D35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2704659"/>
            <a:ext cx="1123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350" b="1">
                <a:solidFill>
                  <a:srgbClr val="15324B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>
              <a:defRPr sz="1350" b="1">
                <a:solidFill>
                  <a:srgbClr val="15324B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5324B"/>
                </a:solidFill>
                <a:latin typeface="Aptos"/>
                <a:ea typeface="Aptos"/>
                <a:cs typeface="Aptos"/>
              </a:rPr>
              <a:t>0.543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A83DFDA-6678-48FC-8C20-34474BAF29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5143500"/>
            <a:ext cx="1123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350" b="0">
                <a:solidFill>
                  <a:srgbClr val="526575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526575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26575"/>
                </a:solidFill>
                <a:latin typeface="Aptos"/>
                <a:ea typeface="Aptos"/>
                <a:cs typeface="Aptos"/>
              </a:rPr>
              <a:t>240 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D6FACFA-F062-402F-BF41-35A8BD9D24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2915698"/>
            <a:ext cx="1123950" cy="211350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7A7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45A0497-0503-4126-890C-C1C826AF04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2591848"/>
            <a:ext cx="1123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350" b="1">
                <a:solidFill>
                  <a:srgbClr val="15324B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>
              <a:defRPr sz="1350" b="1">
                <a:solidFill>
                  <a:srgbClr val="15324B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5324B"/>
                </a:solidFill>
                <a:latin typeface="Aptos"/>
                <a:ea typeface="Aptos"/>
                <a:cs typeface="Aptos"/>
              </a:rPr>
              <a:t>0.574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6A32E4A-C345-405E-8E00-A671888B12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5143500"/>
            <a:ext cx="1123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350" b="0">
                <a:solidFill>
                  <a:srgbClr val="526575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526575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26575"/>
                </a:solidFill>
                <a:latin typeface="Aptos"/>
                <a:ea typeface="Aptos"/>
                <a:cs typeface="Aptos"/>
              </a:rPr>
              <a:t>270 d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80A2520-6485-491D-8847-BE915CD82C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3212202"/>
            <a:ext cx="1123950" cy="181699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C78A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68FC175-F7B0-4083-9DF9-87BBBBF0C6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2888352"/>
            <a:ext cx="1123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350" b="1">
                <a:solidFill>
                  <a:srgbClr val="15324B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>
              <a:defRPr sz="1350" b="1">
                <a:solidFill>
                  <a:srgbClr val="15324B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5324B"/>
                </a:solidFill>
                <a:latin typeface="Aptos"/>
                <a:ea typeface="Aptos"/>
                <a:cs typeface="Aptos"/>
              </a:rPr>
              <a:t>0.493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EAD7536-C2C7-4077-B338-0BD8F09A92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5143500"/>
            <a:ext cx="1123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350" b="0">
                <a:solidFill>
                  <a:srgbClr val="526575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526575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26575"/>
                </a:solidFill>
                <a:latin typeface="Aptos"/>
                <a:ea typeface="Aptos"/>
                <a:cs typeface="Aptos"/>
              </a:rPr>
              <a:t>300 d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39E7A2A-3409-4496-BC09-2DCB6E689D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3130614"/>
            <a:ext cx="1123950" cy="18985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C78A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E287A30-5763-49CC-90B3-1A5FB9C61A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2806764"/>
            <a:ext cx="1123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350" b="1">
                <a:solidFill>
                  <a:srgbClr val="15324B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>
              <a:defRPr sz="1350" b="1">
                <a:solidFill>
                  <a:srgbClr val="15324B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5324B"/>
                </a:solidFill>
                <a:latin typeface="Aptos"/>
                <a:ea typeface="Aptos"/>
                <a:cs typeface="Aptos"/>
              </a:rPr>
              <a:t>0.515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D0C8D63-A9D7-498E-9498-D49D3E475D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5143500"/>
            <a:ext cx="1123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350" b="0">
                <a:solidFill>
                  <a:srgbClr val="526575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526575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26575"/>
                </a:solidFill>
                <a:latin typeface="Aptos"/>
                <a:ea typeface="Aptos"/>
                <a:cs typeface="Aptos"/>
              </a:rPr>
              <a:t>330 d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66596D9-BA5A-48C1-8825-27AE547488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3143855"/>
            <a:ext cx="1123950" cy="188534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C78A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40D1BFA-1826-4322-8C33-E7BE2E3D21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2820005"/>
            <a:ext cx="1123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350" b="1">
                <a:solidFill>
                  <a:srgbClr val="15324B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>
              <a:defRPr sz="1350" b="1">
                <a:solidFill>
                  <a:srgbClr val="15324B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5324B"/>
                </a:solidFill>
                <a:latin typeface="Aptos"/>
                <a:ea typeface="Aptos"/>
                <a:cs typeface="Aptos"/>
              </a:rPr>
              <a:t>0.512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CE3DD07-8D7A-41D5-8062-2FCB3C62F3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5143500"/>
            <a:ext cx="1123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350" b="0">
                <a:solidFill>
                  <a:srgbClr val="526575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526575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26575"/>
                </a:solidFill>
                <a:latin typeface="Aptos"/>
                <a:ea typeface="Aptos"/>
                <a:cs typeface="Aptos"/>
              </a:rPr>
              <a:t>360 d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81CE04C-2B89-4B40-A6F7-21B2E2DC98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5029200"/>
            <a:ext cx="9525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D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DF4FF1E-D40D-4D79-83C3-8C91B0ED6A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610225"/>
            <a:ext cx="106203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275" b="0">
                <a:solidFill>
                  <a:srgbClr val="1C2935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1C2935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C2935"/>
                </a:solidFill>
                <a:latin typeface="Aptos"/>
                <a:ea typeface="Aptos"/>
                <a:cs typeface="Aptos"/>
              </a:rPr>
              <a:t>Best Naive Bayes threshold in this sweep: 270 days (0.574). Threshold performance is cohort-specific.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9D00ECD-7E2B-4008-ADEF-26F1822D55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972175"/>
            <a:ext cx="106203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200" b="0">
                <a:solidFill>
                  <a:srgbClr val="AA5E57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AA5E57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AA5E57"/>
                </a:solidFill>
                <a:latin typeface="Aptos"/>
                <a:ea typeface="Aptos"/>
                <a:cs typeface="Aptos"/>
              </a:rPr>
              <a:t>C-index near 0.5 indicates weak risk ordering here. Small cohort, missing values, sparse stage categories, and five-fold variability limit conclusions.</a:t>
            </a:r>
          </a:p>
        </p:txBody>
      </p:sp>
    </p:spTree>
    <p:extLst>
      <p:ext uri="{BB962C8B-B14F-4D97-AF65-F5344CB8AC3E}">
        <p14:creationId xmlns:p14="http://schemas.microsoft.com/office/powerpoint/2010/main" val="12391104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7F8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654515D-139D-4CDE-AF3D-0F2E002CDE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66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2700" b="1">
                <a:solidFill>
                  <a:srgbClr val="15324B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>
              <a:defRPr sz="2700" b="1">
                <a:solidFill>
                  <a:srgbClr val="15324B"/>
                </a:solidFill>
                <a:latin typeface="Aptos"/>
                <a:ea typeface="Aptos"/>
                <a:cs typeface="Aptos"/>
              </a:defRPr>
            </a:pPr>
            <a:r>
              <a:rPr sz="2700" b="1">
                <a:solidFill>
                  <a:srgbClr val="15324B"/>
                </a:solidFill>
                <a:latin typeface="Aptos"/>
                <a:ea typeface="Aptos"/>
                <a:cs typeface="Aptos"/>
              </a:rPr>
              <a:t>Kaplan–Meier curves by Cox risk group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6FD20ED-0D21-4A96-AECA-3EA7824956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95375"/>
            <a:ext cx="10972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7A7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60335EF-040F-4E4C-A4C4-0AB7023DA0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975" b="0">
                <a:solidFill>
                  <a:srgbClr val="526575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>
              <a:defRPr sz="975" b="0">
                <a:solidFill>
                  <a:srgbClr val="526575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26575"/>
                </a:solidFill>
                <a:latin typeface="Aptos"/>
                <a:ea typeface="Aptos"/>
                <a:cs typeface="Aptos"/>
              </a:rPr>
              <a:t>UE24CS352A  ·  ML MINI-PROJECT                                           06 / 07</a:t>
            </a:r>
          </a:p>
        </p:txBody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3A9D157-27A6-4CD2-904D-9F02ACA68A1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8ba4f5242574a8c"/>
          <a:stretch xmlns:a="http://schemas.openxmlformats.org/drawingml/2006/main"/>
        </p:blipFill>
        <p:spPr>
          <a:xfrm xmlns:a="http://schemas.openxmlformats.org/drawingml/2006/main">
            <a:off x="1345350" y="1381125"/>
            <a:ext cx="5881800" cy="438150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09FBD21-596D-4DE9-934B-EEEFE149BE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1762125"/>
            <a:ext cx="30480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650" b="1">
                <a:solidFill>
                  <a:srgbClr val="157A78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>
              <a:defRPr sz="1650" b="1">
                <a:solidFill>
                  <a:srgbClr val="157A78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57A78"/>
                </a:solidFill>
                <a:latin typeface="Aptos"/>
                <a:ea typeface="Aptos"/>
                <a:cs typeface="Aptos"/>
              </a:rPr>
              <a:t>Median risk split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8ED8A44-D865-4DB8-AB88-9D4241CC49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305050"/>
            <a:ext cx="304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575" b="0">
                <a:solidFill>
                  <a:srgbClr val="1C2935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>
              <a:defRPr sz="1575" b="0">
                <a:solidFill>
                  <a:srgbClr val="1C2935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1C2935"/>
                </a:solidFill>
                <a:latin typeface="Aptos"/>
                <a:ea typeface="Aptos"/>
                <a:cs typeface="Aptos"/>
              </a:rPr>
              <a:t>Higher Cox risk</a:t>
            </a:r>
          </a:p>
          <a:p xmlns:a="http://schemas.openxmlformats.org/drawingml/2006/main">
            <a:pPr>
              <a:defRPr sz="1575" b="0">
                <a:solidFill>
                  <a:srgbClr val="1C2935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1C2935"/>
                </a:solidFill>
                <a:latin typeface="Aptos"/>
                <a:ea typeface="Aptos"/>
                <a:cs typeface="Aptos"/>
              </a:rPr>
              <a:t>n = 92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F3D2CFC-4286-4E69-B2ED-75B1E545B3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3133725"/>
            <a:ext cx="304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575" b="0">
                <a:solidFill>
                  <a:srgbClr val="1C2935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>
              <a:defRPr sz="1575" b="0">
                <a:solidFill>
                  <a:srgbClr val="1C2935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1C2935"/>
                </a:solidFill>
                <a:latin typeface="Aptos"/>
                <a:ea typeface="Aptos"/>
                <a:cs typeface="Aptos"/>
              </a:rPr>
              <a:t>Lower Cox risk</a:t>
            </a:r>
          </a:p>
          <a:p xmlns:a="http://schemas.openxmlformats.org/drawingml/2006/main">
            <a:pPr>
              <a:defRPr sz="1575" b="0">
                <a:solidFill>
                  <a:srgbClr val="1C2935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1C2935"/>
                </a:solidFill>
                <a:latin typeface="Aptos"/>
                <a:ea typeface="Aptos"/>
                <a:cs typeface="Aptos"/>
              </a:rPr>
              <a:t>n = 92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CE509A0-9FFD-4C57-AE0B-908B2D9DA8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4086225"/>
            <a:ext cx="3143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500" b="1">
                <a:solidFill>
                  <a:srgbClr val="15324B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>
              <a:defRPr sz="1500" b="1">
                <a:solidFill>
                  <a:srgbClr val="15324B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5324B"/>
                </a:solidFill>
                <a:latin typeface="Aptos"/>
                <a:ea typeface="Aptos"/>
                <a:cs typeface="Aptos"/>
              </a:rPr>
              <a:t>Log-rank p = 0.0012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7E0CC1B-57C1-410F-ABB2-AC5D1A9E69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4657725"/>
            <a:ext cx="29527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200" b="0">
                <a:solidFill>
                  <a:srgbClr val="AA5E57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AA5E57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AA5E57"/>
                </a:solidFill>
                <a:latin typeface="Aptos"/>
                <a:ea typeface="Aptos"/>
                <a:cs typeface="Aptos"/>
              </a:rPr>
              <a:t>Full-cohort descriptive split; curves are not out-of-fold validation.</a:t>
            </a:r>
          </a:p>
        </p:txBody>
      </p:sp>
    </p:spTree>
    <p:extLst>
      <p:ext uri="{BB962C8B-B14F-4D97-AF65-F5344CB8AC3E}">
        <p14:creationId xmlns:p14="http://schemas.microsoft.com/office/powerpoint/2010/main" val="1642821963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7F8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29EADF1-3884-412F-89E8-B91FBAE064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66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2700" b="1">
                <a:solidFill>
                  <a:srgbClr val="15324B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>
              <a:defRPr sz="2700" b="1">
                <a:solidFill>
                  <a:srgbClr val="15324B"/>
                </a:solidFill>
                <a:latin typeface="Aptos"/>
                <a:ea typeface="Aptos"/>
                <a:cs typeface="Aptos"/>
              </a:defRPr>
            </a:pPr>
            <a:r>
              <a:rPr sz="2700" b="1">
                <a:solidFill>
                  <a:srgbClr val="15324B"/>
                </a:solidFill>
                <a:latin typeface="Aptos"/>
                <a:ea typeface="Aptos"/>
                <a:cs typeface="Aptos"/>
              </a:rPr>
              <a:t>Conclusion and live demonstration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D32B26E-5BC0-4568-8AF8-DC3BB0DC4D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95375"/>
            <a:ext cx="10972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7A7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C813762-7A2F-4B43-B240-F343C66570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975" b="0">
                <a:solidFill>
                  <a:srgbClr val="526575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>
              <a:defRPr sz="975" b="0">
                <a:solidFill>
                  <a:srgbClr val="526575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26575"/>
                </a:solidFill>
                <a:latin typeface="Aptos"/>
                <a:ea typeface="Aptos"/>
                <a:cs typeface="Aptos"/>
              </a:rPr>
              <a:t>UE24CS352A  ·  ML MINI-PROJECT                                           07 / 07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55B37E7-9176-4BBC-AA4B-BF382E6576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485900"/>
            <a:ext cx="2286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650" b="1">
                <a:solidFill>
                  <a:srgbClr val="157A78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>
              <a:defRPr sz="1650" b="1">
                <a:solidFill>
                  <a:srgbClr val="157A78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57A78"/>
                </a:solidFill>
                <a:latin typeface="Aptos"/>
                <a:ea typeface="Aptos"/>
                <a:cs typeface="Aptos"/>
              </a:rPr>
              <a:t>•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16367F9-78ED-4905-8D83-E78F27B0E4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485900"/>
            <a:ext cx="101536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650" b="0">
                <a:solidFill>
                  <a:srgbClr val="1C2935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1C2935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1C2935"/>
                </a:solidFill>
                <a:latin typeface="Aptos"/>
                <a:ea typeface="Aptos"/>
                <a:cs typeface="Aptos"/>
              </a:rPr>
              <a:t>Public TCGA PAAD data let us implement the workflow; the original restricted Stanford cohort is unavailable.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AAEF71D-CF4A-43C8-9DD4-5FFC434584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466975"/>
            <a:ext cx="2286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650" b="1">
                <a:solidFill>
                  <a:srgbClr val="157A78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>
              <a:defRPr sz="1650" b="1">
                <a:solidFill>
                  <a:srgbClr val="157A78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57A78"/>
                </a:solidFill>
                <a:latin typeface="Aptos"/>
                <a:ea typeface="Aptos"/>
                <a:cs typeface="Aptos"/>
              </a:rPr>
              <a:t>•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4FB904D-44E2-4180-9B6B-DEB2B0E78F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466975"/>
            <a:ext cx="101536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650" b="0">
                <a:solidFill>
                  <a:srgbClr val="1C2935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1C2935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1C2935"/>
                </a:solidFill>
                <a:latin typeface="Aptos"/>
                <a:ea typeface="Aptos"/>
                <a:cs typeface="Aptos"/>
              </a:rPr>
              <a:t>Logistic Regression reached 0.642 balanced accuracy at 270 days; clinical Cox C-index was 0.522.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5026F2E-9D5C-46E9-AB12-03028D4C35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448050"/>
            <a:ext cx="2286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650" b="1">
                <a:solidFill>
                  <a:srgbClr val="157A78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>
              <a:defRPr sz="1650" b="1">
                <a:solidFill>
                  <a:srgbClr val="157A78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57A78"/>
                </a:solidFill>
                <a:latin typeface="Aptos"/>
                <a:ea typeface="Aptos"/>
                <a:cs typeface="Aptos"/>
              </a:rPr>
              <a:t>•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E5E2DFA-F5AE-4023-8031-AFC36A0D63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448050"/>
            <a:ext cx="101536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650" b="0">
                <a:solidFill>
                  <a:srgbClr val="1C2935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1C2935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1C2935"/>
                </a:solidFill>
                <a:latin typeface="Aptos"/>
                <a:ea typeface="Aptos"/>
                <a:cs typeface="Aptos"/>
              </a:rPr>
              <a:t>Scores are modest and cohort-specific. This is a methods exercise, not a clinical prediction tool.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5D3F7BB-0C92-4A51-965D-7D4A576382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724400"/>
            <a:ext cx="238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575" b="1">
                <a:solidFill>
                  <a:srgbClr val="157A78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>
              <a:defRPr sz="1575" b="1">
                <a:solidFill>
                  <a:srgbClr val="157A78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57A78"/>
                </a:solidFill>
                <a:latin typeface="Aptos"/>
                <a:ea typeface="Aptos"/>
                <a:cs typeface="Aptos"/>
              </a:rPr>
              <a:t>Demo command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4EDF7F6-0A21-4DA8-B786-AC9BFE4D01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133975"/>
            <a:ext cx="10287000" cy="581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3236BEE-197F-42D6-A491-DC3B4833B0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248275"/>
            <a:ext cx="99441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275" b="0">
                <a:solidFill>
                  <a:srgbClr val="15324B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15324B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5324B"/>
                </a:solidFill>
                <a:latin typeface="Aptos"/>
                <a:ea typeface="Aptos"/>
                <a:cs typeface="Aptos"/>
              </a:rPr>
              <a:t>python src/analysis.py --data data/private/tcga_paad.csv --threshold 270 --folds 5 --seed 229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9D04685-1F30-4E00-B92F-6A767D7415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5915025"/>
            <a:ext cx="102870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275" b="0">
                <a:solidFill>
                  <a:srgbClr val="526575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526575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526575"/>
                </a:solidFill>
                <a:latin typeface="Aptos"/>
                <a:ea typeface="Aptos"/>
                <a:cs typeface="Aptos"/>
              </a:rPr>
              <a:t>Outputs: classifier metrics · threshold sweep · survival C-index · two-page summary</a:t>
            </a:r>
          </a:p>
        </p:txBody>
      </p:sp>
    </p:spTree>
    <p:extLst>
      <p:ext uri="{BB962C8B-B14F-4D97-AF65-F5344CB8AC3E}">
        <p14:creationId xmlns:p14="http://schemas.microsoft.com/office/powerpoint/2010/main" val="92330513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2026-10-06T12:21:39.0000000Z</dcterms:created>
  <dcterms:modified xsi:type="dcterms:W3CDTF">2026-10-06T12:21:39.0000000Z</dcterms:modified>
</coreProperties>
</file>
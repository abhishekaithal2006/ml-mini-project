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332a97d30045a7" /><Relationship Type="http://schemas.openxmlformats.org/officeDocument/2006/relationships/extended-properties" Target="/docProps/app.xml" Id="R5f46fecdb9f24656" /><Relationship Type="http://schemas.openxmlformats.org/officeDocument/2006/relationships/officeDocument" Target="/ppt/presentation.xml" Id="Re28144918e0c4d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32dc241fdf4b3d"/>
  </p:sldMasterIdLst>
  <p:notesMasterIdLst>
    <p:notesMasterId xmlns:r="http://schemas.openxmlformats.org/officeDocument/2006/relationships" r:id="R8d7e21cb77cf4449"/>
  </p:notesMasterIdLst>
  <p:sldIdLst>
    <p:sldId xmlns:r="http://schemas.openxmlformats.org/officeDocument/2006/relationships" id="256" r:id="R078dd07be1004f0b"/>
    <p:sldId xmlns:r="http://schemas.openxmlformats.org/officeDocument/2006/relationships" id="257" r:id="Re2096063f0394ed4"/>
    <p:sldId xmlns:r="http://schemas.openxmlformats.org/officeDocument/2006/relationships" id="258" r:id="R0be60ffe04064273"/>
    <p:sldId xmlns:r="http://schemas.openxmlformats.org/officeDocument/2006/relationships" id="259" r:id="R49e0968b372044b0"/>
    <p:sldId xmlns:r="http://schemas.openxmlformats.org/officeDocument/2006/relationships" id="260" r:id="R19866541471a4005"/>
    <p:sldId xmlns:r="http://schemas.openxmlformats.org/officeDocument/2006/relationships" id="261" r:id="R40e61488720744e9"/>
    <p:sldId xmlns:r="http://schemas.openxmlformats.org/officeDocument/2006/relationships" id="262" r:id="R9b639955efa942f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25d14656eb4701" /><Relationship Type="http://schemas.openxmlformats.org/officeDocument/2006/relationships/slideMaster" Target="/ppt/slideMasters/slideMaster1.xml" Id="R3932dc241fdf4b3d" /><Relationship Type="http://schemas.openxmlformats.org/officeDocument/2006/relationships/notesMaster" Target="/ppt/notesMasters/notesMaster1.xml" Id="R8d7e21cb77cf4449" /><Relationship Type="http://schemas.openxmlformats.org/officeDocument/2006/relationships/presProps" Target="/ppt/presProps.xml" Id="Ra2397336a4d24e4c" /><Relationship Type="http://schemas.openxmlformats.org/officeDocument/2006/relationships/tableStyles" Target="/ppt/tableStyles.xml" Id="Rd96109602e6d4922" /><Relationship Type="http://schemas.openxmlformats.org/officeDocument/2006/relationships/slide" Target="/ppt/slides/slide1.xml" Id="R078dd07be1004f0b" /><Relationship Type="http://schemas.openxmlformats.org/officeDocument/2006/relationships/slide" Target="/ppt/slides/slide2.xml" Id="Re2096063f0394ed4" /><Relationship Type="http://schemas.openxmlformats.org/officeDocument/2006/relationships/slide" Target="/ppt/slides/slide3.xml" Id="R0be60ffe04064273" /><Relationship Type="http://schemas.openxmlformats.org/officeDocument/2006/relationships/slide" Target="/ppt/slides/slide4.xml" Id="R49e0968b372044b0" /><Relationship Type="http://schemas.openxmlformats.org/officeDocument/2006/relationships/slide" Target="/ppt/slides/slide5.xml" Id="R19866541471a4005" /><Relationship Type="http://schemas.openxmlformats.org/officeDocument/2006/relationships/slide" Target="/ppt/slides/slide6.xml" Id="R40e61488720744e9" /><Relationship Type="http://schemas.openxmlformats.org/officeDocument/2006/relationships/slide" Target="/ppt/slides/slide7.xml" Id="R9b639955efa942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c1fb1e4cdf343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d394953489412a" /><Relationship Type="http://schemas.openxmlformats.org/officeDocument/2006/relationships/notesMaster" Target="/ppt/notesMasters/notesMaster1.xml" Id="R31b026ec5a0b47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c9fb75953b4d2b" /><Relationship Type="http://schemas.openxmlformats.org/officeDocument/2006/relationships/notesMaster" Target="/ppt/notesMasters/notesMaster1.xml" Id="R7a9969afd78b42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5566128dec4dae" /><Relationship Type="http://schemas.openxmlformats.org/officeDocument/2006/relationships/notesMaster" Target="/ppt/notesMasters/notesMaster1.xml" Id="R63ed54bdf8d541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ddba57f3a24cc1" /><Relationship Type="http://schemas.openxmlformats.org/officeDocument/2006/relationships/notesMaster" Target="/ppt/notesMasters/notesMaster1.xml" Id="R9ad364a0f4f845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147ab51be546e5" /><Relationship Type="http://schemas.openxmlformats.org/officeDocument/2006/relationships/notesMaster" Target="/ppt/notesMasters/notesMaster1.xml" Id="R9224064f9a954d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4c1c44bf74468a" /><Relationship Type="http://schemas.openxmlformats.org/officeDocument/2006/relationships/notesMaster" Target="/ppt/notesMasters/notesMaster1.xml" Id="R9d722822ba804f6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7afd6353f1b4d12" /><Relationship Type="http://schemas.openxmlformats.org/officeDocument/2006/relationships/notesMaster" Target="/ppt/notesMasters/notesMaster1.xml" Id="Ra682bf54617445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Stanford cohort used in the reference report is restricted. This presentation reports a public TCGA substitute analysis and does not claim to reproduce the paper’s numerical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NCI Genomic Data Commons TCGA-CDR. https://gdc.cancer.gov/about-data/publications/PanCan-Clinical-2018. The original Jamalian report describes a restricted Stanford cohort of 80 patients with 900 radiomic features. The current cohort and predictors differ.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Classification outcome known at horizon: observed death before threshold versus known alive at threshold. Patients censored before the threshold cannot be labeled and are excluded only from this binary task.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from outputs/classifier_results.csv and outputs/survival_results.csv. Five-fold shuffled CV, seed 229. Results are exploratory and should not be interpreted as clinical decision support.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Exploratory Kaplan–Meier plots use a full-cohort Cox fit to split by median partial hazard. The log-rank p-value is descriptive and not an independent validation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Data source: TCGA Pan-Cancer Clinical Data Resource, NCI GDC, https://gdc.cancer.gov/about-data/publications/PanCan-Clinical-2018. The assignment guidelines require a private GitHub repository, two-page PDF write-up, presentation and live demonstration. Add team member names and the assigned serial-number problem before submission.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Nested tuning method: 5-fold stratified outer CV; within each training fold, a 3-fold grid search selected hyperparameters by balanced accuracy.</a:t>
            </a:r>
          </a:p>
          <a:p xmlns:a="http://schemas.openxmlformats.org/drawingml/2006/main">
            <a:r>
              <a:t>TCGA tuned OOF results: LR bAcc 0.624 / AUC 0.623; SVM 0.618 / 0.593; NB 0.606 / 0.614; RF 0.512 / 0.568; Gradient Boosting 0.489 / 0.581.</a:t>
            </a:r>
          </a:p>
          <a:p xmlns:a="http://schemas.openxmlformats.org/drawingml/2006/main">
            <a:r>
              <a:t>MSK tuned OOF results: SVM bAcc 0.661 / AUC 0.675; RF 0.658 / 0.689; NB 0.652 / 0.682; LR 0.650 / 0.692; Gradient Boosting 0.537 / 0.664.</a:t>
            </a:r>
          </a:p>
          <a:p xmlns:a="http://schemas.openxmlformats.org/drawingml/2006/main">
            <a:r>
              <a:t>Fold-specific settings and inner scores are in classifier_tuned_params.csv under each output cohort directory.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cdec60c59c4b5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ca7fdee6894da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f3dfe419f5407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01030df9934c5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94f7dc277a4ea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0d7693ee324a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66B7D3B-A676-4B1A-9058-2F02946513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E715F83-9C90-4393-B038-987D0F1CA0E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0237310-77E4-4015-A067-692568565C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310275-5806-4DDD-85FE-F282128E49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1F068BA-F401-4F37-9835-992837F441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B46A8F9-AEFC-4581-980F-2D4CAA21C0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4C56AD3-32CA-4283-9F40-9B75C276B1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ECEC82C-A745-40F2-9B0F-A126CDF0F1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9CF7844-F41B-4A2B-922F-0A6D7FF731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05C579E-F643-4A5B-9584-A47F74C53B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9b2aa261a94f0d" /><Relationship Type="http://schemas.openxmlformats.org/officeDocument/2006/relationships/slideLayout" Target="/ppt/slideLayouts/slideLayout1.xml" Id="R383970adc61740f9" /><Relationship Type="http://schemas.openxmlformats.org/officeDocument/2006/relationships/slideLayout" Target="/ppt/slideLayouts/slideLayout2.xml" Id="R873109da2e584755" /><Relationship Type="http://schemas.openxmlformats.org/officeDocument/2006/relationships/slideLayout" Target="/ppt/slideLayouts/slideLayout3.xml" Id="R97aa8e7fc5ec4702" /><Relationship Type="http://schemas.openxmlformats.org/officeDocument/2006/relationships/slideLayout" Target="/ppt/slideLayouts/slideLayout4.xml" Id="R1dbc11b0f02c4d2c" /><Relationship Type="http://schemas.openxmlformats.org/officeDocument/2006/relationships/slideLayout" Target="/ppt/slideLayouts/slideLayout5.xml" Id="R55f9a4d254cf41b5" /><Relationship Type="http://schemas.openxmlformats.org/officeDocument/2006/relationships/slideLayout" Target="/ppt/slideLayouts/slideLayout6.xml" Id="Rb9323d4dba564f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3970adc61740f9"/>
    <p:sldLayoutId xmlns:r="http://schemas.openxmlformats.org/officeDocument/2006/relationships" id="2147483650" r:id="R873109da2e584755"/>
    <p:sldLayoutId xmlns:r="http://schemas.openxmlformats.org/officeDocument/2006/relationships" id="2147483651" r:id="R97aa8e7fc5ec4702"/>
    <p:sldLayoutId xmlns:r="http://schemas.openxmlformats.org/officeDocument/2006/relationships" id="2147483652" r:id="R1dbc11b0f02c4d2c"/>
    <p:sldLayoutId xmlns:r="http://schemas.openxmlformats.org/officeDocument/2006/relationships" id="2147483653" r:id="R55f9a4d254cf41b5"/>
    <p:sldLayoutId xmlns:r="http://schemas.openxmlformats.org/officeDocument/2006/relationships" id="2147483654" r:id="Rb9323d4dba564f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85f2cd8116491c" /><Relationship Type="http://schemas.openxmlformats.org/officeDocument/2006/relationships/notesSlide" Target="/ppt/notesSlides/notesSlide1.xml" Id="R588c29ec068f4d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e666143ef14f7a" /><Relationship Type="http://schemas.openxmlformats.org/officeDocument/2006/relationships/notesSlide" Target="/ppt/notesSlides/notesSlide2.xml" Id="R0536b3f94b7f43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14e3b0bd9243a5" /><Relationship Type="http://schemas.openxmlformats.org/officeDocument/2006/relationships/notesSlide" Target="/ppt/notesSlides/notesSlide3.xml" Id="R22e8387979d54e5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287bdcc6a141bd" /><Relationship Type="http://schemas.openxmlformats.org/officeDocument/2006/relationships/notesSlide" Target="/ppt/notesSlides/notesSlide4.xml" Id="R7b916989723147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37df5ee57449ec" /><Relationship Type="http://schemas.openxmlformats.org/officeDocument/2006/relationships/notesSlide" Target="/ppt/notesSlides/notesSlide5.xml" Id="R230a8d2de5cc4c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f058c5b143469f" /><Relationship Type="http://schemas.openxmlformats.org/officeDocument/2006/relationships/image" Target="/ppt/media/image.png" Id="Rec44f0e67f4444d3" /><Relationship Type="http://schemas.openxmlformats.org/officeDocument/2006/relationships/notesSlide" Target="/ppt/notesSlides/notesSlide6.xml" Id="R861fc1d5c2c444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74c629d036468b" /><Relationship Type="http://schemas.openxmlformats.org/officeDocument/2006/relationships/notesSlide" Target="/ppt/notesSlides/notesSlide7.xml" Id="Rf25fbcc2b13946b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2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58873B-D451-4F09-95E5-CDA889F4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85850"/>
            <a:ext cx="819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8FD0C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8FD0C8"/>
                </a:solidFill>
                <a:latin typeface="Aptos"/>
                <a:ea typeface="Aptos"/>
                <a:cs typeface="Aptos"/>
              </a:rPr>
              <a:t>PANCREATIC CANCER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8FAE40-079F-479E-82DB-4306147F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8477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Survival analysis</a:t>
            </a:r>
          </a:p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with clinical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4699A9-AA6B-4D7F-98AB-2FF35EE4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D8E3E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D8E3E8"/>
                </a:solidFill>
                <a:latin typeface="Aptos"/>
                <a:ea typeface="Aptos"/>
                <a:cs typeface="Aptos"/>
              </a:rPr>
              <a:t>Reference workflow replication + five-classifier comparison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F47251-3C3C-41B0-8BCE-BA111449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22698D-DB1F-4705-B601-5A45C644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33900"/>
            <a:ext cx="942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Public TCGA PAAD cohort · 184 patients · 5-fold evaluation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1F8BD7-C533-4C21-A593-0FA56027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81575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C8D7D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D7DF"/>
                </a:solidFill>
                <a:latin typeface="Aptos"/>
                <a:ea typeface="Aptos"/>
                <a:cs typeface="Aptos"/>
              </a:rPr>
              <a:t>Team members: __________________________________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FB1B4-4140-411F-8C14-9ACC0DC5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2935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C8D7D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8D7DF"/>
                </a:solidFill>
                <a:latin typeface="Aptos"/>
                <a:ea typeface="Aptos"/>
                <a:cs typeface="Aptos"/>
              </a:rPr>
              <a:t>UE24CS352A  ·  Machine Learning Mini-Project</a:t>
            </a:r>
          </a:p>
        </p:txBody>
      </p:sp>
    </p:spTree>
    <p:extLst>
      <p:ext uri="{BB962C8B-B14F-4D97-AF65-F5344CB8AC3E}">
        <p14:creationId xmlns:p14="http://schemas.microsoft.com/office/powerpoint/2010/main" val="211262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18484A-74EF-449F-A2DB-53628193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Study question and public cohort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2204A4-394E-44C4-A3BE-74BB59816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953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A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F2BF7E-FBA5-471D-99D5-61056D2B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UE24CS352A  ·  ML MINI-PROJECT                                           02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56879D-3712-4C15-A8CE-65682E63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C2935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C2935"/>
                </a:solidFill>
                <a:latin typeface="Aptos"/>
                <a:ea typeface="Aptos"/>
                <a:cs typeface="Aptos"/>
              </a:rPr>
              <a:t>Can clinical variables help order survival risk?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EBF17-8BDE-4B8F-8C33-33A3954F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71675"/>
            <a:ext cx="104775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The reference report uses pancreatic cancer survival, clinical/radiomic features, Naive Bayes risk groups, and Cox proportional hazards.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229A2A-3E0B-4D18-AFB4-4DC2B5FA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76575"/>
            <a:ext cx="238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184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E5E35B-A794-42D3-BD51-330E513B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43325"/>
            <a:ext cx="2762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PAAD records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9DBB47-33F3-4F01-9BD0-926A0478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76575"/>
            <a:ext cx="238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57A78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157A78"/>
                </a:solidFill>
                <a:latin typeface="Aptos"/>
                <a:ea typeface="Aptos"/>
                <a:cs typeface="Aptos"/>
              </a:rPr>
              <a:t>100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7166C-8435-4F32-A13C-46F29EB4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43325"/>
            <a:ext cx="2762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observed deaths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4D417-3228-4ACE-B6E2-FBFB60E3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76575"/>
            <a:ext cx="2381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84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3EC3D4-E5F7-4F5B-89DB-1F1E7BB4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43325"/>
            <a:ext cx="2762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right-censored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8AC1-545A-464D-A59B-6EF4F22E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67250"/>
            <a:ext cx="1905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57A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7A78"/>
                </a:solidFill>
                <a:latin typeface="Aptos"/>
                <a:ea typeface="Aptos"/>
                <a:cs typeface="Aptos"/>
              </a:rPr>
              <a:t>Predictors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A9F146-D384-411C-A302-7C0B1892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9810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1C293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C2935"/>
                </a:solidFill>
                <a:latin typeface="Aptos"/>
                <a:ea typeface="Aptos"/>
                <a:cs typeface="Aptos"/>
              </a:rPr>
              <a:t>Classification: age · gender · stage · histology · race</a:t>
            </a:r>
          </a:p>
          <a:p xmlns:a="http://schemas.openxmlformats.org/drawingml/2006/main">
            <a:pPr>
              <a:buNone/>
              <a:defRPr sz="1575" b="0">
                <a:solidFill>
                  <a:srgbClr val="1C293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C2935"/>
                </a:solidFill>
                <a:latin typeface="Aptos"/>
                <a:ea typeface="Aptos"/>
                <a:cs typeface="Aptos"/>
              </a:rPr>
              <a:t>Cox survival model: age · gender · stage</a:t>
            </a:r>
          </a:p>
          <a:p xmlns:a="http://schemas.openxmlformats.org/drawingml/2006/main">
            <a:pPr>
              <a:buNone/>
              <a:defRPr sz="1575" b="0">
                <a:solidFill>
                  <a:srgbClr val="1C293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C2935"/>
                </a:solidFill>
                <a:latin typeface="Aptos"/>
                <a:ea typeface="Aptos"/>
                <a:cs typeface="Aptos"/>
              </a:rPr>
              <a:t>No radiomic features in TCGA-CDR extract</a:t>
            </a:r>
          </a:p>
        </p:txBody>
      </p:sp>
    </p:spTree>
    <p:extLst>
      <p:ext uri="{BB962C8B-B14F-4D97-AF65-F5344CB8AC3E}">
        <p14:creationId xmlns:p14="http://schemas.microsoft.com/office/powerpoint/2010/main" val="17841249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300DD3-3314-451D-A9F3-2A8DF39B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Analysis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416D1-7C5D-4943-9CDF-12367E95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953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A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04BCEF-A55E-42CD-8CBD-B52EF67A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UE24CS352A  ·  ML MINI-PROJECT                                           03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DAB9FF-F441-4A1F-89E9-CE35ADD9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57A7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7A7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14A84D-7E15-41C1-A51A-9B29010B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4287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Prepare survival outcome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5D9D0B-9BF4-4A04-BC53-2DD9C8CF7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828800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Duration in days; event=death, censored=0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90EE05-FB62-4A8F-AB77-977E0D04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7645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B3EE69-A1DB-46B8-93DF-32994BF8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57A7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022DEE-B7CA-4BE5-98D0-22423B16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5336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Fit survival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7C1A59-0849-475C-9639-B327F1F74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33700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Penalized Cox model; 5-fold C-index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265427-758F-433B-8BBC-D55E94DB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83F108-67FE-4550-9FEE-D2933396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57A7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7A7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75F2D0-C49F-4F63-8CD1-2A6B1535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6385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Build early-risk label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FBB5E4-523D-43D1-A7C9-BBBBC25E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38600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Death by 270 days; exclude early-censored unknowns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D252F2-F92F-40F9-9740-56BD1E40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8625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EA28E5-9BA6-4FEF-A10B-20B5D9E7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4345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57A7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DB1EE8-4900-4C8B-9111-6A130190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434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Compare classifiers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A98221-3649-40B8-B802-B73A55C7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43500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NB · Logistic Regression · RBF SVM · Random Forest · Gradient Boosting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73A6DC-F408-42AD-A873-DA2958D1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340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A5E5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A5E57"/>
                </a:solidFill>
                <a:latin typeface="Aptos"/>
                <a:ea typeface="Aptos"/>
                <a:cs typeface="Aptos"/>
              </a:rPr>
              <a:t>Preprocessing and resampling stay inside the training folds. SMOTE is omitted because interpolating censored survival times can create invalid records.</a:t>
            </a:r>
          </a:p>
        </p:txBody>
      </p:sp>
    </p:spTree>
    <p:extLst>
      <p:ext uri="{BB962C8B-B14F-4D97-AF65-F5344CB8AC3E}">
        <p14:creationId xmlns:p14="http://schemas.microsoft.com/office/powerpoint/2010/main" val="6701438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29ECD7-4A2F-4EFC-BBBE-3D51D507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Classifier results at 270 days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7C1C30-4490-498E-95B1-CF093E73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953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A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3D319F-24D2-4380-8DF5-EDA15DD6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UE24CS352A  ·  ML MINI-PROJECT                                           04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369DEE-D979-48E5-9C69-282407A6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10668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C293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C2935"/>
                </a:solidFill>
                <a:latin typeface="Aptos"/>
                <a:ea typeface="Aptos"/>
                <a:cs typeface="Aptos"/>
              </a:rPr>
              <a:t>Logistic Regression led balanced accuracy; recall remains higher than precision.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85800" y="2095500"/>
          <a:ext xmlns:a="http://schemas.openxmlformats.org/drawingml/2006/main" cx="10782300" cy="2952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797050"/>
                <a:gridCol w="1797050"/>
                <a:gridCol w="1797050"/>
                <a:gridCol w="1797050"/>
                <a:gridCol w="1797050"/>
                <a:gridCol w="1797050"/>
              </a:tblGrid>
              <a:tr h="4921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Classifier</a:t>
                      </a:r>
                    </a:p>
                  </a:txBody>
                  <a:tcPr marL="91440" marR="91440" marT="45720" marB="45720">
                    <a:solidFill>
                      <a:srgbClr val="1532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Balanced acc.</a:t>
                      </a:r>
                    </a:p>
                  </a:txBody>
                  <a:tcPr marL="91440" marR="91440" marT="45720" marB="45720">
                    <a:solidFill>
                      <a:srgbClr val="1532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 marL="91440" marR="91440" marT="45720" marB="45720">
                    <a:solidFill>
                      <a:srgbClr val="1532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 marL="91440" marR="91440" marT="45720" marB="45720">
                    <a:solidFill>
                      <a:srgbClr val="1532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 marL="91440" marR="91440" marT="45720" marB="45720">
                    <a:solidFill>
                      <a:srgbClr val="1532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 marL="91440" marR="91440" marT="45720" marB="45720">
                    <a:solidFill>
                      <a:srgbClr val="15324B"/>
                    </a:solidFill>
                  </a:tcPr>
                </a:tc>
              </a:tr>
              <a:tr h="492125">
                <a:tc>
                  <a:txBody>
                    <a:bodyPr/>
                    <a:lstStyle/>
                    <a:p>
                      <a:r>
                        <a:rPr sz="1200"/>
                        <a:t>Logistic Regression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0.642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0.282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0.688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0.400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0.620</a:t>
                      </a:r>
                    </a:p>
                  </a:txBody>
                  <a:tcPr marL="91440" marR="91440" marT="45720" marB="45720"/>
                </a:tc>
              </a:tr>
              <a:tr h="492125">
                <a:tc>
                  <a:txBody>
                    <a:bodyPr/>
                    <a:lstStyle/>
                    <a:p>
                      <a:r>
                        <a:rPr sz="1200"/>
                        <a:t>SVM (RBF)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0.640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0.274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0.719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0.397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0.417</a:t>
                      </a:r>
                    </a:p>
                  </a:txBody>
                  <a:tcPr marL="91440" marR="91440" marT="45720" marB="45720"/>
                </a:tc>
              </a:tr>
              <a:tr h="492125"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0.608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0.300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0.469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0.366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0.574</a:t>
                      </a:r>
                    </a:p>
                  </a:txBody>
                  <a:tcPr marL="91440" marR="91440" marT="45720" marB="45720"/>
                </a:tc>
              </a:tr>
              <a:tr h="492125">
                <a:tc>
                  <a:txBody>
                    <a:bodyPr/>
                    <a:lstStyle/>
                    <a:p>
                      <a:r>
                        <a:rPr sz="1200"/>
                        <a:t>Naive Bayes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0.574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0.235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0.594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0.336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0.602</a:t>
                      </a:r>
                    </a:p>
                  </a:txBody>
                  <a:tcPr marL="91440" marR="91440" marT="45720" marB="45720"/>
                </a:tc>
              </a:tr>
              <a:tr h="492125">
                <a:tc>
                  <a:txBody>
                    <a:bodyPr/>
                    <a:lstStyle/>
                    <a:p>
                      <a:r>
                        <a:rPr sz="1200"/>
                        <a:t>Gradient Boosting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0.518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0.273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0.094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0.140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/>
                        <a:t>0.583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3A6A0A-95D0-4F65-BFE9-BCE57416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9115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Known labels: 171  ·  early-censored excluded: 13  ·  high-risk events: 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ACEB8A-C111-452F-B8AC-4D89F5F49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9775"/>
            <a:ext cx="1057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7A7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7A78"/>
                </a:solidFill>
                <a:latin typeface="Aptos"/>
                <a:ea typeface="Aptos"/>
                <a:cs typeface="Aptos"/>
              </a:rPr>
              <a:t>Cox clinical C-index: 0.522 ± 0.035 (5 folds)</a:t>
            </a:r>
          </a:p>
        </p:txBody>
      </p:sp>
    </p:spTree>
    <p:extLst>
      <p:ext uri="{BB962C8B-B14F-4D97-AF65-F5344CB8AC3E}">
        <p14:creationId xmlns:p14="http://schemas.microsoft.com/office/powerpoint/2010/main" val="11923689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D5BC52-104F-4C27-A8D7-617D8C4B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Threshold sensitivity and interpretation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6F3E85-76A3-42D1-A10F-C9E19D68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953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A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2BC9E2-2733-4B81-9E6F-D138C192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UE24CS352A  ·  ML MINI-PROJECT                                           05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EBA04B-A620-4A8D-A173-EB0B2B89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668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1C2935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C2935"/>
                </a:solidFill>
                <a:latin typeface="Aptos"/>
                <a:ea typeface="Aptos"/>
                <a:cs typeface="Aptos"/>
              </a:rPr>
              <a:t>Naive Bayes balanced accuracy across the paper’s tested horizons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6FD5FA-B900-4556-8DE3-412CF019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028509"/>
            <a:ext cx="1123950" cy="20006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78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C913D1-5203-49BA-B592-DA50E34D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704659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0.543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83DFDA-6678-48FC-8C20-34474BAF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0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240 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FACFA-F062-402F-BF41-35A8BD9D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915698"/>
            <a:ext cx="1123950" cy="2113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A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5A0497-0503-4126-890C-C1C826AF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91848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0.574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32E4A-C345-405E-8E00-A671888B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143500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270 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0A2520-6485-491D-8847-BE915CD82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212202"/>
            <a:ext cx="1123950" cy="181699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78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8FC175-F7B0-4083-9DF9-87BBBBF0C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88352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0.493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AD7536-C2C7-4077-B338-0BD8F09A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143500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300 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9E7A2A-3409-4496-BC09-2DCB6E68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30614"/>
            <a:ext cx="1123950" cy="18985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78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287A30-5763-49CC-90B3-1A5FB9C61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806764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0.515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0C8D63-A9D7-498E-9498-D49D3E47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43500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330 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6596D9-BA5A-48C1-8825-27AE54748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143855"/>
            <a:ext cx="1123950" cy="18853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78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0D1BFA-1826-4322-8C33-E7BE2E3D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82000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0.512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E3DD07-8D7A-41D5-8062-2FCB3C62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143500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360 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1CE04C-2B89-4B40-A6F7-21B2E2DC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29200"/>
            <a:ext cx="952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F4FF1E-D40D-4D79-83C3-8C91B0ED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0225"/>
            <a:ext cx="1062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1C293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C2935"/>
                </a:solidFill>
                <a:latin typeface="Aptos"/>
                <a:ea typeface="Aptos"/>
                <a:cs typeface="Aptos"/>
              </a:rPr>
              <a:t>Best Naive Bayes threshold in this sweep: 270 days (0.574). Threshold performance is cohort-specific.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D00ECD-7E2B-4008-ADEF-26F1822D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72175"/>
            <a:ext cx="1062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A5E5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A5E57"/>
                </a:solidFill>
                <a:latin typeface="Aptos"/>
                <a:ea typeface="Aptos"/>
                <a:cs typeface="Aptos"/>
              </a:rPr>
              <a:t>C-index near 0.5 indicates weak risk ordering here. Small cohort, missing values, sparse stage categories, and five-fold variability limit conclusions.</a:t>
            </a:r>
          </a:p>
        </p:txBody>
      </p:sp>
    </p:spTree>
    <p:extLst>
      <p:ext uri="{BB962C8B-B14F-4D97-AF65-F5344CB8AC3E}">
        <p14:creationId xmlns:p14="http://schemas.microsoft.com/office/powerpoint/2010/main" val="123911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54515D-139D-4CDE-AF3D-0F2E002C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Kaplan–Meier curves by Cox risk group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FD20ED-0D21-4A96-AECA-3EA78249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953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A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0335EF-040F-4E4C-A4C4-0AB7023D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UE24CS352A  ·  ML MINI-PROJECT                                           06 / 07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44f0e67f4444d3"/>
          <a:stretch xmlns:a="http://schemas.openxmlformats.org/drawingml/2006/main"/>
        </p:blipFill>
        <p:spPr>
          <a:xfrm xmlns:a="http://schemas.openxmlformats.org/drawingml/2006/main">
            <a:off x="1345350" y="1381125"/>
            <a:ext cx="5881800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9FBD21-596D-4DE9-934B-EEEFE149B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62125"/>
            <a:ext cx="304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57A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7A78"/>
                </a:solidFill>
                <a:latin typeface="Aptos"/>
                <a:ea typeface="Aptos"/>
                <a:cs typeface="Aptos"/>
              </a:rPr>
              <a:t>Median risk split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ED8A44-D865-4DB8-AB88-9D4241CC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050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1C293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C2935"/>
                </a:solidFill>
                <a:latin typeface="Aptos"/>
                <a:ea typeface="Aptos"/>
                <a:cs typeface="Aptos"/>
              </a:rPr>
              <a:t>Higher Cox risk</a:t>
            </a:r>
          </a:p>
          <a:p xmlns:a="http://schemas.openxmlformats.org/drawingml/2006/main">
            <a:pPr>
              <a:buNone/>
              <a:defRPr sz="1575" b="0">
                <a:solidFill>
                  <a:srgbClr val="1C293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C2935"/>
                </a:solidFill>
                <a:latin typeface="Aptos"/>
                <a:ea typeface="Aptos"/>
                <a:cs typeface="Aptos"/>
              </a:rPr>
              <a:t>n = 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3D2CFC-4286-4E69-B2ED-75B1E545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3372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1C293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C2935"/>
                </a:solidFill>
                <a:latin typeface="Aptos"/>
                <a:ea typeface="Aptos"/>
                <a:cs typeface="Aptos"/>
              </a:rPr>
              <a:t>Lower Cox risk</a:t>
            </a:r>
          </a:p>
          <a:p xmlns:a="http://schemas.openxmlformats.org/drawingml/2006/main">
            <a:pPr>
              <a:buNone/>
              <a:defRPr sz="1575" b="0">
                <a:solidFill>
                  <a:srgbClr val="1C293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C2935"/>
                </a:solidFill>
                <a:latin typeface="Aptos"/>
                <a:ea typeface="Aptos"/>
                <a:cs typeface="Aptos"/>
              </a:rPr>
              <a:t>n = 92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E509A0-9FFD-4C57-AE0B-908B2D9D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86225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Log-rank p = 0.0012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E0CC1B-57C1-410F-ABB2-AC5D1A9E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57725"/>
            <a:ext cx="295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A5E5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A5E57"/>
                </a:solidFill>
                <a:latin typeface="Aptos"/>
                <a:ea typeface="Aptos"/>
                <a:cs typeface="Aptos"/>
              </a:rPr>
              <a:t>Full-cohort descriptive split; curves are not out-of-fold validation.</a:t>
            </a:r>
          </a:p>
        </p:txBody>
      </p:sp>
    </p:spTree>
    <p:extLst>
      <p:ext uri="{BB962C8B-B14F-4D97-AF65-F5344CB8AC3E}">
        <p14:creationId xmlns:p14="http://schemas.microsoft.com/office/powerpoint/2010/main" val="16428219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9EADF1-3884-412F-89E8-B91FBAE0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5324B"/>
                </a:solidFill>
                <a:latin typeface="Aptos"/>
                <a:ea typeface="Aptos"/>
                <a:cs typeface="Aptos"/>
              </a:rPr>
              <a:t>Conclusion and nested tuning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32B26E-5BC0-4568-8AF8-DC3BB0DC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95375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A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813762-7A2F-4B43-B240-F343C665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UE24CS352A  ·  ML MINI-PROJECT                                           07 /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5B37E7-9176-4BBC-AA4B-BF382E65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57A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7A78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6367F9-78ED-4905-8D83-E78F27B0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85900"/>
            <a:ext cx="10153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C2935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C2935"/>
                </a:solidFill>
                <a:latin typeface="Aptos"/>
                <a:ea typeface="Aptos"/>
                <a:cs typeface="Aptos"/>
              </a:rPr>
              <a:t>Public TCGA PAAD data let us implement the workflow; the original restricted Stanford cohort is unavailable.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AEF71D-CF4A-43C8-9DD4-5FFC4345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6697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57A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7A78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B904D-44E2-4180-9B6B-DEB2B0E7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66975"/>
            <a:ext cx="10153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C2935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C2935"/>
                </a:solidFill>
                <a:latin typeface="Aptos"/>
                <a:ea typeface="Aptos"/>
                <a:cs typeface="Aptos"/>
              </a:rPr>
              <a:t>TCGA: tuned Naive Bayes 0.606 (fixed 0.574); tuned Logistic Regression 0.624 (fixed 0.642).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026F2E-9D5C-46E9-AB12-03028D4C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57A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7A78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5E2DFA-F5AE-4023-8031-AFC36A0D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48050"/>
            <a:ext cx="10153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C2935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C2935"/>
                </a:solidFill>
                <a:latin typeface="Aptos"/>
                <a:ea typeface="Aptos"/>
                <a:cs typeface="Aptos"/>
              </a:rPr>
              <a:t>MSK: tuned SVM 0.661 (fixed 0.652); Random Forest 0.658 (fixed 0.590). Cohorts are separate, not a direct gain.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D3F7BB-0C92-4A51-965D-7D4A5763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244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57A7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7A78"/>
                </a:solidFill>
                <a:latin typeface="Aptos"/>
                <a:ea typeface="Aptos"/>
                <a:cs typeface="Aptos"/>
              </a:rPr>
              <a:t>Demo command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EDF7F6-0A21-4DA8-B786-AC9BFE4D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33975"/>
            <a:ext cx="1028700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236BEE-197F-42D6-A491-DC3B4833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48275"/>
            <a:ext cx="994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15324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324B"/>
                </a:solidFill>
                <a:latin typeface="Aptos"/>
                <a:ea typeface="Aptos"/>
                <a:cs typeface="Aptos"/>
              </a:rPr>
              <a:t>python src/analysis.py --data data/private/tcga_paad.csv --threshold 270 --folds 5 --seed 229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D04685-1F30-4E00-B92F-6A767D74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915025"/>
            <a:ext cx="10287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5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575"/>
                </a:solidFill>
                <a:latin typeface="Aptos"/>
                <a:ea typeface="Aptos"/>
                <a:cs typeface="Aptos"/>
              </a:rPr>
              <a:t>Outputs: baseline and nested-CV metrics · fold parameters · survival C-index · two-page summary</a:t>
            </a:r>
          </a:p>
        </p:txBody>
      </p:sp>
    </p:spTree>
    <p:extLst>
      <p:ext uri="{BB962C8B-B14F-4D97-AF65-F5344CB8AC3E}">
        <p14:creationId xmlns:p14="http://schemas.microsoft.com/office/powerpoint/2010/main" val="9233051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2026-10-06T13:06:00.6540000Z</dcterms:created>
  <dcterms:modified xsi:type="dcterms:W3CDTF">2026-10-06T13:06:00.6540000Z</dcterms:modified>
</coreProperties>
</file>
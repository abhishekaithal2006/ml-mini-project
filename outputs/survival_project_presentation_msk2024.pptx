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d7fcff642d4330" /><Relationship Type="http://schemas.openxmlformats.org/officeDocument/2006/relationships/extended-properties" Target="/docProps/app.xml" Id="R15ae1a79b38a4c27" /><Relationship Type="http://schemas.openxmlformats.org/officeDocument/2006/relationships/officeDocument" Target="/ppt/presentation.xml" Id="Re9bd7be0cca148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7e2891008f45c4"/>
  </p:sldMasterIdLst>
  <p:notesMasterIdLst>
    <p:notesMasterId xmlns:r="http://schemas.openxmlformats.org/officeDocument/2006/relationships" r:id="R384358432bc64ea9"/>
  </p:notesMasterIdLst>
  <p:sldIdLst>
    <p:sldId xmlns:r="http://schemas.openxmlformats.org/officeDocument/2006/relationships" id="256" r:id="R62cd947d83224d10"/>
    <p:sldId xmlns:r="http://schemas.openxmlformats.org/officeDocument/2006/relationships" id="257" r:id="Rd45e733dd85b4978"/>
    <p:sldId xmlns:r="http://schemas.openxmlformats.org/officeDocument/2006/relationships" id="258" r:id="Red893d4d9021423e"/>
    <p:sldId xmlns:r="http://schemas.openxmlformats.org/officeDocument/2006/relationships" id="259" r:id="R585511f6e0f244b6"/>
    <p:sldId xmlns:r="http://schemas.openxmlformats.org/officeDocument/2006/relationships" id="260" r:id="R2414ade6ebf649fc"/>
    <p:sldId xmlns:r="http://schemas.openxmlformats.org/officeDocument/2006/relationships" id="261" r:id="R34db2a66855d402e"/>
    <p:sldId xmlns:r="http://schemas.openxmlformats.org/officeDocument/2006/relationships" id="262" r:id="R7e552a6ef79f42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a8e52dc0b1496f" /><Relationship Type="http://schemas.openxmlformats.org/officeDocument/2006/relationships/slideMaster" Target="/ppt/slideMasters/slideMaster1.xml" Id="R0a7e2891008f45c4" /><Relationship Type="http://schemas.openxmlformats.org/officeDocument/2006/relationships/notesMaster" Target="/ppt/notesMasters/notesMaster1.xml" Id="R384358432bc64ea9" /><Relationship Type="http://schemas.openxmlformats.org/officeDocument/2006/relationships/presProps" Target="/ppt/presProps.xml" Id="Rab5b4e2ebb964e4a" /><Relationship Type="http://schemas.openxmlformats.org/officeDocument/2006/relationships/tableStyles" Target="/ppt/tableStyles.xml" Id="R1bdff53d9ca344eb" /><Relationship Type="http://schemas.openxmlformats.org/officeDocument/2006/relationships/slide" Target="/ppt/slides/slide1.xml" Id="R62cd947d83224d10" /><Relationship Type="http://schemas.openxmlformats.org/officeDocument/2006/relationships/slide" Target="/ppt/slides/slide2.xml" Id="Rd45e733dd85b4978" /><Relationship Type="http://schemas.openxmlformats.org/officeDocument/2006/relationships/slide" Target="/ppt/slides/slide3.xml" Id="Red893d4d9021423e" /><Relationship Type="http://schemas.openxmlformats.org/officeDocument/2006/relationships/slide" Target="/ppt/slides/slide4.xml" Id="R585511f6e0f244b6" /><Relationship Type="http://schemas.openxmlformats.org/officeDocument/2006/relationships/slide" Target="/ppt/slides/slide5.xml" Id="R2414ade6ebf649fc" /><Relationship Type="http://schemas.openxmlformats.org/officeDocument/2006/relationships/slide" Target="/ppt/slides/slide6.xml" Id="R34db2a66855d402e" /><Relationship Type="http://schemas.openxmlformats.org/officeDocument/2006/relationships/slide" Target="/ppt/slides/slide7.xml" Id="R7e552a6ef79f42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61552767de47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f304aafa0f4fc7" /><Relationship Type="http://schemas.openxmlformats.org/officeDocument/2006/relationships/notesMaster" Target="/ppt/notesMasters/notesMaster1.xml" Id="R6b80d6bc5fb64a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a4af72909b47aa" /><Relationship Type="http://schemas.openxmlformats.org/officeDocument/2006/relationships/notesMaster" Target="/ppt/notesMasters/notesMaster1.xml" Id="R745f46f7fb2245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2985a973c34eb2" /><Relationship Type="http://schemas.openxmlformats.org/officeDocument/2006/relationships/notesMaster" Target="/ppt/notesMasters/notesMaster1.xml" Id="R41f8a938df714e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0ff7f8b6d84bd5" /><Relationship Type="http://schemas.openxmlformats.org/officeDocument/2006/relationships/notesMaster" Target="/ppt/notesMasters/notesMaster1.xml" Id="R949b8b4ce2e145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3227aa796f4597" /><Relationship Type="http://schemas.openxmlformats.org/officeDocument/2006/relationships/notesMaster" Target="/ppt/notesMasters/notesMaster1.xml" Id="R0d2c4801da7047e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0a0b07a2d244088" /><Relationship Type="http://schemas.openxmlformats.org/officeDocument/2006/relationships/notesMaster" Target="/ppt/notesMasters/notesMaster1.xml" Id="Ra2a5e25b34f34f8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2eb6b7136df47ff" /><Relationship Type="http://schemas.openxmlformats.org/officeDocument/2006/relationships/notesMaster" Target="/ppt/notesMasters/notesMaster1.xml" Id="R493fb7fe76da4a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presentation uses only the public cBioPortal PDAC MSK 2024 cohort. The Stanford cohort in the reference report is restricted, so these results are a public-cohort adaptation, not a numerical replication.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cBioPortal PDAC MSK 2024 study, pdac_msk_2024. The original Jamalian report describes a restricted Stanford cohort with radiomic features. The current cohort and predictors differ, so numerical scores are not direct replications.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Classification outcome known at horizon: observed death before threshold versus known alive at threshold. Patients censored before the threshold cannot be labeled and are excluded only from this binary task.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MSK 2024 fixed-parameter results at 270 days. Stratified five-fold CV, seed 229. Nested tuning used five outer folds with three-fold inner search. Results are exploratory and are not clinical decision support.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MSK 2024 Naive Bayes exploratory horizon sensitivity values: 240d 0.664 (n=2044, high-risk=482); 270d 0.650 (n=2027, high-risk=533); 300d 0.658 (n=2014, high-risk=602); 330d 0.653 (n=1997, high-risk=658); 360d 0.653 (n=1989, high-risk=712). The primary classifier comparison remains at 270 days.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MSK 2024 Kaplan-Meier plot uses a full-cohort Cox fit to split patients by median partial hazard. The log-rank p-value is descriptive and not an independent validation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 source: cBioPortal PDAC MSK 2024 study, pdac_msk_2024. The assignment requires a private GitHub repository, a two-page write-up, a presentation, and a live demonstration. Team member names and SRNs appear on the title slide. Add the team-specific assigned problem statement and individual contribution details when provided.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Nested tuning: five-fold outer CV with three-fold inner parameter search by balanced accuracy. MSK tuned results: SVM bAcc 0.661 / AUC 0.675; RF 0.658 / 0.689; NB 0.652 / 0.682; LR 0.650 / 0.692; Gradient Boosting 0.537 / 0.664.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13f3999899413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bbc0fe9eb8404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a6f1bddd5040e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e26cf2deec4cc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98f724b529481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f325274fb34e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66B7D3B-A676-4B1A-9058-2F02946513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E715F83-9C90-4393-B038-987D0F1CA0E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0237310-77E4-4015-A067-692568565C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E310275-5806-4DDD-85FE-F282128E49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1F068BA-F401-4F37-9835-992837F441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B46A8F9-AEFC-4581-980F-2D4CAA21C0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4C56AD3-32CA-4283-9F40-9B75C276B1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ECEC82C-A745-40F2-9B0F-A126CDF0F15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9CF7844-F41B-4A2B-922F-0A6D7FF731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05C579E-F643-4A5B-9584-A47F74C53B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e0180f84874c97" /><Relationship Type="http://schemas.openxmlformats.org/officeDocument/2006/relationships/slideLayout" Target="/ppt/slideLayouts/slideLayout1.xml" Id="R9d52747343dc4608" /><Relationship Type="http://schemas.openxmlformats.org/officeDocument/2006/relationships/slideLayout" Target="/ppt/slideLayouts/slideLayout2.xml" Id="Rd47371247aee4de7" /><Relationship Type="http://schemas.openxmlformats.org/officeDocument/2006/relationships/slideLayout" Target="/ppt/slideLayouts/slideLayout3.xml" Id="Rc6e53addaf374926" /><Relationship Type="http://schemas.openxmlformats.org/officeDocument/2006/relationships/slideLayout" Target="/ppt/slideLayouts/slideLayout4.xml" Id="R859fc8caec2944ca" /><Relationship Type="http://schemas.openxmlformats.org/officeDocument/2006/relationships/slideLayout" Target="/ppt/slideLayouts/slideLayout5.xml" Id="Rb0f458171d284ef8" /><Relationship Type="http://schemas.openxmlformats.org/officeDocument/2006/relationships/slideLayout" Target="/ppt/slideLayouts/slideLayout6.xml" Id="R5b97ea1293404b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52747343dc4608"/>
    <p:sldLayoutId xmlns:r="http://schemas.openxmlformats.org/officeDocument/2006/relationships" id="2147483650" r:id="Rd47371247aee4de7"/>
    <p:sldLayoutId xmlns:r="http://schemas.openxmlformats.org/officeDocument/2006/relationships" id="2147483651" r:id="Rc6e53addaf374926"/>
    <p:sldLayoutId xmlns:r="http://schemas.openxmlformats.org/officeDocument/2006/relationships" id="2147483652" r:id="R859fc8caec2944ca"/>
    <p:sldLayoutId xmlns:r="http://schemas.openxmlformats.org/officeDocument/2006/relationships" id="2147483653" r:id="Rb0f458171d284ef8"/>
    <p:sldLayoutId xmlns:r="http://schemas.openxmlformats.org/officeDocument/2006/relationships" id="2147483654" r:id="R5b97ea1293404b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c23e949cfb4b6b" /><Relationship Type="http://schemas.openxmlformats.org/officeDocument/2006/relationships/notesSlide" Target="/ppt/notesSlides/notesSlide1.xml" Id="R3c422fc6abf746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1b28bdb479420a" /><Relationship Type="http://schemas.openxmlformats.org/officeDocument/2006/relationships/notesSlide" Target="/ppt/notesSlides/notesSlide2.xml" Id="R3f2b7d486e7e49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c2c43c0c844aff" /><Relationship Type="http://schemas.openxmlformats.org/officeDocument/2006/relationships/notesSlide" Target="/ppt/notesSlides/notesSlide3.xml" Id="Rf9f9bad951f04e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1b30729efd4f5f" /><Relationship Type="http://schemas.openxmlformats.org/officeDocument/2006/relationships/notesSlide" Target="/ppt/notesSlides/notesSlide4.xml" Id="Re09c21e67d9f46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70686d8a264e21" /><Relationship Type="http://schemas.openxmlformats.org/officeDocument/2006/relationships/notesSlide" Target="/ppt/notesSlides/notesSlide5.xml" Id="Rfe26a8cff0a74f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1195bfda254fbf" /><Relationship Type="http://schemas.openxmlformats.org/officeDocument/2006/relationships/image" Target="/ppt/media/image.png" Id="R7c822900467349e4" /><Relationship Type="http://schemas.openxmlformats.org/officeDocument/2006/relationships/notesSlide" Target="/ppt/notesSlides/notesSlide6.xml" Id="R1d19d022c79c41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4c0848131b4d21" /><Relationship Type="http://schemas.openxmlformats.org/officeDocument/2006/relationships/notesSlide" Target="/ppt/notesSlides/notesSlide7.xml" Id="R62df891fdab2464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2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58873B-D451-4F09-95E5-CDA889F4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858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8FD0C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8FD0C8"/>
                </a:solidFill>
                <a:latin typeface="Aptos"/>
                <a:ea typeface="Aptos"/>
                <a:cs typeface="Aptos"/>
              </a:rPr>
              <a:t>PANCREATIC CANCER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8FAE40-079F-479E-82DB-4306147F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66875"/>
            <a:ext cx="8477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Survival analysis</a:t>
            </a:r>
          </a:p>
          <a:p xmlns:a="http://schemas.openxmlformats.org/drawingml/2006/main">
            <a:pPr>
              <a:buNone/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with clinical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4699A9-AA6B-4D7F-98AB-2FF35EE4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D8E3E8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8E3E8"/>
                </a:solidFill>
                <a:latin typeface="Aptos"/>
                <a:ea typeface="Aptos"/>
                <a:cs typeface="Aptos"/>
              </a:rPr>
              <a:t>Reference workflow adaptation + five-classifier 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F47251-3C3C-41B0-8BCE-BA111449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22698D-DB1F-4705-B601-5A45C644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33900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Public MSK 2024 cohort · 2,260 patients · 5-fold evaluation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1F8BD7-C533-4C21-A593-0FA56027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05375"/>
            <a:ext cx="9906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C8D7D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8D7DF"/>
                </a:solidFill>
                <a:latin typeface="Aptos"/>
                <a:ea typeface="Aptos"/>
                <a:cs typeface="Aptos"/>
              </a:rPr>
              <a:t>Team members:
Abhishek Aithal (PES1UG24CS651)
Shreeranganath Manjunath Saravade (PES1UG24CS622)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3FB1B4-4140-411F-8C14-9ACC0DC5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293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C8D7D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D7DF"/>
                </a:solidFill>
                <a:latin typeface="Aptos"/>
                <a:ea typeface="Aptos"/>
                <a:cs typeface="Aptos"/>
              </a:rPr>
              <a:t>UE24CS352A  ·  Machine Learning Mini-Project</a:t>
            </a:r>
          </a:p>
        </p:txBody>
      </p:sp>
    </p:spTree>
    <p:extLst>
      <p:ext uri="{BB962C8B-B14F-4D97-AF65-F5344CB8AC3E}">
        <p14:creationId xmlns:p14="http://schemas.microsoft.com/office/powerpoint/2010/main" val="211262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18484A-74EF-449F-A2DB-53628193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5324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5324B"/>
                </a:solidFill>
                <a:latin typeface="Aptos"/>
                <a:ea typeface="Aptos"/>
                <a:cs typeface="Aptos"/>
              </a:rPr>
              <a:t>Study question and public cohort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2204A4-394E-44C4-A3BE-74BB5981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F2BF7E-FBA5-471D-99D5-61056D2B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UE24CS352A  ·  ML MINI-PROJECT                                           02 /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56879D-3712-4C15-A8CE-65682E63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C2935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C2935"/>
                </a:solidFill>
                <a:latin typeface="Aptos"/>
                <a:ea typeface="Aptos"/>
                <a:cs typeface="Aptos"/>
              </a:rPr>
              <a:t>Can clinical variables help order survival risk?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EEBF17-8BDE-4B8F-8C33-33A3954F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1047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We use the public MSK 2024 pancreatic cancer cohort to study survival risk with clinical and demographic data. The reference report’s restricted Stanford cohort and radiomic features are unavailable.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229A2A-3E0B-4D18-AFB4-4DC2B5FA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76575"/>
            <a:ext cx="238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15324B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15324B"/>
                </a:solidFill>
                <a:latin typeface="Aptos"/>
                <a:ea typeface="Aptos"/>
                <a:cs typeface="Aptos"/>
              </a:rPr>
              <a:t>2,260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E5E35B-A794-42D3-BD51-330E513B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43325"/>
            <a:ext cx="2762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MSK patients retained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9DBB47-33F3-4F01-9BD0-926A0478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76575"/>
            <a:ext cx="238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157A78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157A78"/>
                </a:solidFill>
                <a:latin typeface="Aptos"/>
                <a:ea typeface="Aptos"/>
                <a:cs typeface="Aptos"/>
              </a:rPr>
              <a:t>1,521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67166C-8435-4F32-A13C-46F29EB4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43325"/>
            <a:ext cx="2762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observed deaths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D4D417-3228-4ACE-B6E2-FBFB60E3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76575"/>
            <a:ext cx="238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15324B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15324B"/>
                </a:solidFill>
                <a:latin typeface="Aptos"/>
                <a:ea typeface="Aptos"/>
                <a:cs typeface="Aptos"/>
              </a:rPr>
              <a:t>739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3EC3D4-E5F7-4F5B-89DB-1F1E7BB4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43325"/>
            <a:ext cx="2762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right-censored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398AC1-545A-464D-A59B-6EF4F22E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190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57A7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7A78"/>
                </a:solidFill>
                <a:latin typeface="Aptos"/>
                <a:ea typeface="Aptos"/>
                <a:cs typeface="Aptos"/>
              </a:rPr>
              <a:t>Predictors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A9F146-D384-411C-A302-7C0B1892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981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C293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C2935"/>
                </a:solidFill>
                <a:latin typeface="Aptos"/>
                <a:ea typeface="Aptos"/>
                <a:cs typeface="Aptos"/>
              </a:rPr>
              <a:t>Classification: age · sex · stage · genomic group · tumor location · exposure/history</a:t>
            </a:r>
          </a:p>
          <a:p xmlns:a="http://schemas.openxmlformats.org/drawingml/2006/main">
            <a:pPr>
              <a:buNone/>
              <a:defRPr sz="1575" b="0">
                <a:solidFill>
                  <a:srgbClr val="1C293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C2935"/>
                </a:solidFill>
                <a:latin typeface="Aptos"/>
                <a:ea typeface="Aptos"/>
                <a:cs typeface="Aptos"/>
              </a:rPr>
              <a:t>Cox survival model: age · sex · stage</a:t>
            </a:r>
          </a:p>
          <a:p xmlns:a="http://schemas.openxmlformats.org/drawingml/2006/main">
            <a:pPr>
              <a:buNone/>
              <a:defRPr sz="1575" b="0">
                <a:solidFill>
                  <a:srgbClr val="1C293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C2935"/>
                </a:solidFill>
                <a:latin typeface="Aptos"/>
                <a:ea typeface="Aptos"/>
                <a:cs typeface="Aptos"/>
              </a:rPr>
              <a:t>No radiomic features in this public extract</a:t>
            </a:r>
          </a:p>
        </p:txBody>
      </p:sp>
    </p:spTree>
    <p:extLst>
      <p:ext uri="{BB962C8B-B14F-4D97-AF65-F5344CB8AC3E}">
        <p14:creationId xmlns:p14="http://schemas.microsoft.com/office/powerpoint/2010/main" val="17841249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300DD3-3314-451D-A9F3-2A8DF39B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5324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5324B"/>
                </a:solidFill>
                <a:latin typeface="Aptos"/>
                <a:ea typeface="Aptos"/>
                <a:cs typeface="Aptos"/>
              </a:rPr>
              <a:t>Analysis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2416D1-7C5D-4943-9CDF-12367E95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04BCEF-A55E-42CD-8CBD-B52EF67A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UE24CS352A  ·  ML MINI-PROJECT                                           03 /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DAB9FF-F441-4A1F-89E9-CE35ADD9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57A7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57A7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14A84D-7E15-41C1-A51A-9B29010B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4287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5324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5324B"/>
                </a:solidFill>
                <a:latin typeface="Aptos"/>
                <a:ea typeface="Aptos"/>
                <a:cs typeface="Aptos"/>
              </a:rPr>
              <a:t>Prepare survival outcome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5D9D0B-9BF4-4A04-BC53-2DD9C8CF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8288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Duration in days; event=death, censored=0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90EE05-FB62-4A8F-AB77-977E0D04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76450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B3EE69-A1DB-46B8-93DF-32994BF8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57A7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57A7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022DEE-B7CA-4BE5-98D0-22423B16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336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5324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5324B"/>
                </a:solidFill>
                <a:latin typeface="Aptos"/>
                <a:ea typeface="Aptos"/>
                <a:cs typeface="Aptos"/>
              </a:rPr>
              <a:t>Fit survival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7C1A59-0849-475C-9639-B327F1F7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9337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Penalized Cox model; 5-fold C-index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265427-758F-433B-8BBC-D55E94DB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83F108-67FE-4550-9FEE-D2933396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57A7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57A7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75F2D0-C49F-4F63-8CD1-2A6B1535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6385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5324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5324B"/>
                </a:solidFill>
                <a:latin typeface="Aptos"/>
                <a:ea typeface="Aptos"/>
                <a:cs typeface="Aptos"/>
              </a:rPr>
              <a:t>Build early-risk label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FBB5E4-523D-43D1-A7C9-BBBBC25E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386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Death by 270 days; exclude early-censored unknowns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D252F2-F92F-40F9-9740-56BD1E40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EA28E5-9BA6-4FEF-A10B-20B5D9E7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57A7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57A7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DB1EE8-4900-4C8B-9111-6A130190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434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5324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5324B"/>
                </a:solidFill>
                <a:latin typeface="Aptos"/>
                <a:ea typeface="Aptos"/>
                <a:cs typeface="Aptos"/>
              </a:rPr>
              <a:t>Compare classifiers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A98221-3649-40B8-B802-B73A55C7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1435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NB · Logistic Regression · RBF SVM · Random Forest · Gradient Boosting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73A6DC-F408-42AD-A873-DA2958D1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340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AA5E5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5E57"/>
                </a:solidFill>
                <a:latin typeface="Aptos"/>
                <a:ea typeface="Aptos"/>
                <a:cs typeface="Aptos"/>
              </a:rPr>
              <a:t>Preprocessing is fitted inside training folds. SMOTE is omitted because synthetic interpolation can create invalid records from censored survival data.</a:t>
            </a:r>
          </a:p>
        </p:txBody>
      </p:sp>
    </p:spTree>
    <p:extLst>
      <p:ext uri="{BB962C8B-B14F-4D97-AF65-F5344CB8AC3E}">
        <p14:creationId xmlns:p14="http://schemas.microsoft.com/office/powerpoint/2010/main" val="6701438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29ECD7-4A2F-4EFC-BBBE-3D51D507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5324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5324B"/>
                </a:solidFill>
                <a:latin typeface="Aptos"/>
                <a:ea typeface="Aptos"/>
                <a:cs typeface="Aptos"/>
              </a:rPr>
              <a:t>Classifier results at 270 days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7C1C30-4490-498E-95B1-CF093E73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3D319F-24D2-4380-8DF5-EDA15DD6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UE24CS352A  ·  ML MINI-PROJECT                                           04 /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369DEE-D979-48E5-9C69-282407A6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668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C293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C2935"/>
                </a:solidFill>
                <a:latin typeface="Aptos"/>
                <a:ea typeface="Aptos"/>
                <a:cs typeface="Aptos"/>
              </a:rPr>
              <a:t>Logistic Regression led fixed balanced accuracy; tuned SVM led nested balanced accuracy.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85800" y="2095500"/>
          <a:ext xmlns:a="http://schemas.openxmlformats.org/drawingml/2006/main" cx="10782300" cy="2952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797050"/>
                <a:gridCol w="1797050"/>
                <a:gridCol w="1797050"/>
                <a:gridCol w="1797050"/>
                <a:gridCol w="1797050"/>
                <a:gridCol w="1797050"/>
              </a:tblGrid>
              <a:tr h="4921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Classifier</a:t>
                      </a:r>
                    </a:p>
                  </a:txBody>
                  <a:tcPr marL="91440" marR="91440" marT="45720" marB="45720">
                    <a:solidFill>
                      <a:srgbClr val="1532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Balanced acc.</a:t>
                      </a:r>
                    </a:p>
                  </a:txBody>
                  <a:tcPr marL="91440" marR="91440" marT="45720" marB="45720">
                    <a:solidFill>
                      <a:srgbClr val="1532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 marL="91440" marR="91440" marT="45720" marB="45720">
                    <a:solidFill>
                      <a:srgbClr val="1532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 marL="91440" marR="91440" marT="45720" marB="45720">
                    <a:solidFill>
                      <a:srgbClr val="1532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 marL="91440" marR="91440" marT="45720" marB="45720">
                    <a:solidFill>
                      <a:srgbClr val="1532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ROC-AUC</a:t>
                      </a:r>
                    </a:p>
                  </a:txBody>
                  <a:tcPr marL="91440" marR="91440" marT="45720" marB="45720">
                    <a:solidFill>
                      <a:srgbClr val="15324B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1200"/>
                        <a:t>Logistic Regression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0.653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0.389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0.696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0.499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0.692</a:t>
                      </a:r>
                    </a:p>
                  </a:txBody>
                  <a:tcPr marL="91440" marR="91440" marT="45720" marB="45720"/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1200"/>
                        <a:t>SVM (RBF)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0.652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0.390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0.685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0.497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0.666</a:t>
                      </a:r>
                    </a:p>
                  </a:txBody>
                  <a:tcPr marL="91440" marR="91440" marT="45720" marB="45720"/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1200"/>
                        <a:t>Random Forest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0.590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0.346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0.552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0.425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0.636</a:t>
                      </a:r>
                    </a:p>
                  </a:txBody>
                  <a:tcPr marL="91440" marR="91440" marT="45720" marB="45720"/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1200"/>
                        <a:t>Naive Bayes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0.650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0.388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0.685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0.495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0.684</a:t>
                      </a:r>
                    </a:p>
                  </a:txBody>
                  <a:tcPr marL="91440" marR="91440" marT="45720" marB="45720"/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1200"/>
                        <a:t>Gradient Boosting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0.540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0.374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0.201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0.261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0.631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3A6A0A-95D0-4F65-BFE9-BCE57416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911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Known labels: 2,027  ·  early-censored excluded: 233  ·  high-risk events: 533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ACEB8A-C111-452F-B8AC-4D89F5F4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977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57A7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7A78"/>
                </a:solidFill>
                <a:latin typeface="Aptos"/>
                <a:ea typeface="Aptos"/>
                <a:cs typeface="Aptos"/>
              </a:rPr>
              <a:t>Cox clinical C-index: 0.657 ± 0.016 (5 folds)</a:t>
            </a:r>
          </a:p>
        </p:txBody>
      </p:sp>
    </p:spTree>
    <p:extLst>
      <p:ext uri="{BB962C8B-B14F-4D97-AF65-F5344CB8AC3E}">
        <p14:creationId xmlns:p14="http://schemas.microsoft.com/office/powerpoint/2010/main" val="11923689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D5BC52-104F-4C27-A8D7-617D8C4B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5324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5324B"/>
                </a:solidFill>
                <a:latin typeface="Aptos"/>
                <a:ea typeface="Aptos"/>
                <a:cs typeface="Aptos"/>
              </a:rPr>
              <a:t>Threshold sensitivity and interpretation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6F3E85-76A3-42D1-A10F-C9E19D68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2BC9E2-2733-4B81-9E6F-D138C192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UE24CS352A  ·  ML MINI-PROJECT                                           05 /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EBA04B-A620-4A8D-A173-EB0B2B89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668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C293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C2935"/>
                </a:solidFill>
                <a:latin typeface="Aptos"/>
                <a:ea typeface="Aptos"/>
                <a:cs typeface="Aptos"/>
              </a:rPr>
              <a:t>Naive Bayes balanced accuracy across MSK survival horizons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6FD5FA-B900-4556-8DE3-412CF019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580150"/>
            <a:ext cx="1123950" cy="244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78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C913D1-5203-49BA-B592-DA50E34D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25630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532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324B"/>
                </a:solidFill>
                <a:latin typeface="Aptos"/>
                <a:ea typeface="Aptos"/>
                <a:cs typeface="Aptos"/>
              </a:rPr>
              <a:t>0.664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83DFDA-6678-48FC-8C20-34474BAF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240 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6FACFA-F062-402F-BF41-35A8BD9D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34550"/>
            <a:ext cx="1123950" cy="239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5A0497-0503-4126-890C-C1C826AF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1070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532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324B"/>
                </a:solidFill>
                <a:latin typeface="Aptos"/>
                <a:ea typeface="Aptos"/>
                <a:cs typeface="Aptos"/>
              </a:rPr>
              <a:t>0.650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A32E4A-C345-405E-8E00-A671888B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14350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270 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0A2520-6485-491D-8847-BE915CD8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604246"/>
            <a:ext cx="1123950" cy="24249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78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8FC175-F7B0-4083-9DF9-87BBBBF0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280396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532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324B"/>
                </a:solidFill>
                <a:latin typeface="Aptos"/>
                <a:ea typeface="Aptos"/>
                <a:cs typeface="Aptos"/>
              </a:rPr>
              <a:t>0.658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AD7536-C2C7-4077-B338-0BD8F09A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14350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300 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9E7A2A-3409-4496-BC09-2DCB6E68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22423"/>
            <a:ext cx="1123950" cy="24067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78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287A30-5763-49CC-90B3-1A5FB9C6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98573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532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324B"/>
                </a:solidFill>
                <a:latin typeface="Aptos"/>
                <a:ea typeface="Aptos"/>
                <a:cs typeface="Aptos"/>
              </a:rPr>
              <a:t>0.653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0C8D63-A9D7-498E-9498-D49D3E47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14350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330 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6596D9-BA5A-48C1-8825-27AE5474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22776"/>
            <a:ext cx="1123950" cy="24064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78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0D1BFA-1826-4322-8C33-E7BE2E3D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98926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532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324B"/>
                </a:solidFill>
                <a:latin typeface="Aptos"/>
                <a:ea typeface="Aptos"/>
                <a:cs typeface="Aptos"/>
              </a:rPr>
              <a:t>0.653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E3DD07-8D7A-41D5-8062-2FCB3C62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14350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360 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1CE04C-2B89-4B40-A6F7-21B2E2DC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029200"/>
            <a:ext cx="952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F4FF1E-D40D-4D79-83C3-8C91B0ED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10225"/>
            <a:ext cx="1062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1C293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C2935"/>
                </a:solidFill>
                <a:latin typeface="Aptos"/>
                <a:ea typeface="Aptos"/>
                <a:cs typeface="Aptos"/>
              </a:rPr>
              <a:t>Highest exploratory NB score: 240 days (0.664). Primary comparison stays at 270 days.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D00ECD-7E2B-4008-ADEF-26F1822D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72175"/>
            <a:ext cx="1062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AA5E5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5E57"/>
                </a:solidFill>
                <a:latin typeface="Aptos"/>
                <a:ea typeface="Aptos"/>
                <a:cs typeface="Aptos"/>
              </a:rPr>
              <a:t>The horizon sweep is exploratory and not nested selection. Results depend on the cohort and censoring pattern.</a:t>
            </a:r>
          </a:p>
        </p:txBody>
      </p:sp>
    </p:spTree>
    <p:extLst>
      <p:ext uri="{BB962C8B-B14F-4D97-AF65-F5344CB8AC3E}">
        <p14:creationId xmlns:p14="http://schemas.microsoft.com/office/powerpoint/2010/main" val="123911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54515D-139D-4CDE-AF3D-0F2E002C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5324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5324B"/>
                </a:solidFill>
                <a:latin typeface="Aptos"/>
                <a:ea typeface="Aptos"/>
                <a:cs typeface="Aptos"/>
              </a:rPr>
              <a:t>Kaplan–Meier curves by Cox risk group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FD20ED-0D21-4A96-AECA-3EA78249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0335EF-040F-4E4C-A4C4-0AB7023D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UE24CS352A  ·  ML MINI-PROJECT                                           06 / 07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822900467349e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45350" y="1381125"/>
            <a:ext cx="5881800" cy="4381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9FBD21-596D-4DE9-934B-EEEFE149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62125"/>
            <a:ext cx="304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57A7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7A78"/>
                </a:solidFill>
                <a:latin typeface="Aptos"/>
                <a:ea typeface="Aptos"/>
                <a:cs typeface="Aptos"/>
              </a:rPr>
              <a:t>Median risk split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ED8A44-D865-4DB8-AB88-9D4241CC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050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C293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C2935"/>
                </a:solidFill>
                <a:latin typeface="Aptos"/>
                <a:ea typeface="Aptos"/>
                <a:cs typeface="Aptos"/>
              </a:rPr>
              <a:t>Higher Cox risk</a:t>
            </a:r>
          </a:p>
          <a:p xmlns:a="http://schemas.openxmlformats.org/drawingml/2006/main">
            <a:pPr>
              <a:buNone/>
              <a:defRPr sz="1575" b="0">
                <a:solidFill>
                  <a:srgbClr val="1C293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C2935"/>
                </a:solidFill>
                <a:latin typeface="Aptos"/>
                <a:ea typeface="Aptos"/>
                <a:cs typeface="Aptos"/>
              </a:rPr>
              <a:t>n = 1,130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3D2CFC-4286-4E69-B2ED-75B1E545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33725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C293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C2935"/>
                </a:solidFill>
                <a:latin typeface="Aptos"/>
                <a:ea typeface="Aptos"/>
                <a:cs typeface="Aptos"/>
              </a:rPr>
              <a:t>Lower Cox risk</a:t>
            </a:r>
          </a:p>
          <a:p xmlns:a="http://schemas.openxmlformats.org/drawingml/2006/main">
            <a:pPr>
              <a:buNone/>
              <a:defRPr sz="1575" b="0">
                <a:solidFill>
                  <a:srgbClr val="1C293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C2935"/>
                </a:solidFill>
                <a:latin typeface="Aptos"/>
                <a:ea typeface="Aptos"/>
                <a:cs typeface="Aptos"/>
              </a:rPr>
              <a:t>n = 1,130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E509A0-9FFD-4C57-AE0B-908B2D9D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8622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5324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324B"/>
                </a:solidFill>
                <a:latin typeface="Aptos"/>
                <a:ea typeface="Aptos"/>
                <a:cs typeface="Aptos"/>
              </a:rPr>
              <a:t>Log-rank p = 1.73e-72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E0CC1B-57C1-410F-ABB2-AC5D1A9E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57725"/>
            <a:ext cx="295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AA5E5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5E57"/>
                </a:solidFill>
                <a:latin typeface="Aptos"/>
                <a:ea typeface="Aptos"/>
                <a:cs typeface="Aptos"/>
              </a:rPr>
              <a:t>Full-cohort descriptive split; curves are not out-of-fold validation.</a:t>
            </a:r>
          </a:p>
        </p:txBody>
      </p:sp>
    </p:spTree>
    <p:extLst>
      <p:ext uri="{BB962C8B-B14F-4D97-AF65-F5344CB8AC3E}">
        <p14:creationId xmlns:p14="http://schemas.microsoft.com/office/powerpoint/2010/main" val="16428219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9EADF1-3884-412F-89E8-B91FBAE0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5324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5324B"/>
                </a:solidFill>
                <a:latin typeface="Aptos"/>
                <a:ea typeface="Aptos"/>
                <a:cs typeface="Aptos"/>
              </a:rPr>
              <a:t>Conclusion and nested tuning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32B26E-5BC0-4568-8AF8-DC3BB0DC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813762-7A2F-4B43-B240-F343C665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UE24CS352A  ·  ML MINI-PROJECT                                           07 /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5B37E7-9176-4BBC-AA4B-BF382E65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859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57A7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7A78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6367F9-78ED-4905-8D83-E78F27B0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85900"/>
            <a:ext cx="1015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C293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C2935"/>
                </a:solidFill>
                <a:latin typeface="Aptos"/>
                <a:ea typeface="Aptos"/>
                <a:cs typeface="Aptos"/>
              </a:rPr>
              <a:t>MSK 2024 is the only cohort in this analysis; the reference Stanford cohort and radiomic features are unavailable.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AEF71D-CF4A-43C8-9DD4-5FFC4345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6697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57A7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7A78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FB904D-44E2-4180-9B6B-DEB2B0E7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66975"/>
            <a:ext cx="1015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C293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C2935"/>
                </a:solidFill>
                <a:latin typeface="Aptos"/>
                <a:ea typeface="Aptos"/>
                <a:cs typeface="Aptos"/>
              </a:rPr>
              <a:t>Nested tuning: SVM 0.661 (fixed 0.652); Random Forest 0.658 (fixed 0.590).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026F2E-9D5C-46E9-AB12-03028D4C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57A7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7A78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5E2DFA-F5AE-4023-8031-AFC36A0D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48050"/>
            <a:ext cx="1015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C293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C2935"/>
                </a:solidFill>
                <a:latin typeface="Aptos"/>
                <a:ea typeface="Aptos"/>
                <a:cs typeface="Aptos"/>
              </a:rPr>
              <a:t>The Cox model reached C-index 0.657 ± 0.016. Results are exploratory and the KM split is descriptive.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D3F7BB-0C92-4A51-965D-7D4A5763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244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57A7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7A78"/>
                </a:solidFill>
                <a:latin typeface="Aptos"/>
                <a:ea typeface="Aptos"/>
                <a:cs typeface="Aptos"/>
              </a:rPr>
              <a:t>Demo command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EDF7F6-0A21-4DA8-B786-AC9BFE4D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33975"/>
            <a:ext cx="10287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236BEE-197F-42D6-A491-DC3B4833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48275"/>
            <a:ext cx="994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15324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324B"/>
                </a:solidFill>
                <a:latin typeface="Aptos"/>
                <a:ea typeface="Aptos"/>
                <a:cs typeface="Aptos"/>
              </a:rPr>
              <a:t>python src/analysis.py --data data/private/msk_paad_2024.csv --threshold 270 --folds 5 --seed 229 --output outputs/msk_paad_2024 --tune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D04685-1F30-4E00-B92F-6A767D74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915025"/>
            <a:ext cx="1028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Outputs: MSK classifier metrics · nested tuning · survival C-index · plots · two-page summary</a:t>
            </a:r>
          </a:p>
        </p:txBody>
      </p:sp>
    </p:spTree>
    <p:extLst>
      <p:ext uri="{BB962C8B-B14F-4D97-AF65-F5344CB8AC3E}">
        <p14:creationId xmlns:p14="http://schemas.microsoft.com/office/powerpoint/2010/main" val="9233051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2026-10-07T04:07:28.4020000Z</dcterms:created>
  <dcterms:modified xsi:type="dcterms:W3CDTF">2026-10-07T04:07:28.4020000Z</dcterms:modified>
</coreProperties>
</file>